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383280"/>
            <a:ext cx="2194560" cy="76200"/>
          </a:xfrm>
          <a:prstGeom prst="rect">
            <a:avLst/>
          </a:prstGeom>
          <a:solidFill>
            <a:srgbClr val="E06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1371600"/>
          </a:xfrm>
          <a:prstGeom prst="rect">
            <a:avLst/>
          </a:prstGeom>
          <a:noFill/>
        </p:spPr>
        <p:txBody>
          <a:bodyPr wrap="square" anchor="t">
            <a:spAutoFit/>
          </a:bodyPr>
          <a:lstStyle/>
          <a:p>
            <a:pPr algn="l">
              <a:spcBef>
                <a:spcPts val="0"/>
              </a:spcBef>
              <a:spcAft>
                <a:spcPts val="600"/>
              </a:spcAft>
            </a:pPr>
            <a:r>
              <a:rPr sz="4400" b="1" i="0">
                <a:solidFill>
                  <a:srgbClr val="FFFFFF"/>
                </a:solidFill>
                <a:latin typeface="Segoe UI"/>
              </a:rPr>
              <a:t>How a Receptive Field is Built</a:t>
            </a:r>
          </a:p>
        </p:txBody>
      </p:sp>
      <p:sp>
        <p:nvSpPr>
          <p:cNvPr id="5" name="TextBox 4"/>
          <p:cNvSpPr txBox="1"/>
          <p:nvPr/>
        </p:nvSpPr>
        <p:spPr>
          <a:xfrm>
            <a:off x="822960" y="3611880"/>
            <a:ext cx="10515600" cy="914400"/>
          </a:xfrm>
          <a:prstGeom prst="rect">
            <a:avLst/>
          </a:prstGeom>
          <a:noFill/>
        </p:spPr>
        <p:txBody>
          <a:bodyPr wrap="square" anchor="t">
            <a:spAutoFit/>
          </a:bodyPr>
          <a:lstStyle/>
          <a:p>
            <a:pPr algn="l">
              <a:spcBef>
                <a:spcPts val="0"/>
              </a:spcBef>
              <a:spcAft>
                <a:spcPts val="600"/>
              </a:spcAft>
            </a:pPr>
            <a:r>
              <a:rPr sz="2200" b="0" i="0">
                <a:solidFill>
                  <a:srgbClr val="C9D2E0"/>
                </a:solidFill>
                <a:latin typeface="Segoe UI"/>
              </a:rPr>
              <a:t>A walkthrough of the receptive-field mapping pipeline</a:t>
            </a:r>
          </a:p>
        </p:txBody>
      </p:sp>
      <p:sp>
        <p:nvSpPr>
          <p:cNvPr id="6" name="TextBox 5"/>
          <p:cNvSpPr txBox="1"/>
          <p:nvPr/>
        </p:nvSpPr>
        <p:spPr>
          <a:xfrm>
            <a:off x="822960" y="5852160"/>
            <a:ext cx="10515600" cy="548640"/>
          </a:xfrm>
          <a:prstGeom prst="rect">
            <a:avLst/>
          </a:prstGeom>
          <a:noFill/>
        </p:spPr>
        <p:txBody>
          <a:bodyPr wrap="square" anchor="t">
            <a:spAutoFit/>
          </a:bodyPr>
          <a:lstStyle/>
          <a:p>
            <a:pPr algn="l">
              <a:spcBef>
                <a:spcPts val="0"/>
              </a:spcBef>
              <a:spcAft>
                <a:spcPts val="600"/>
              </a:spcAft>
            </a:pPr>
            <a:r>
              <a:rPr sz="1400" b="0" i="0">
                <a:solidFill>
                  <a:srgbClr val="8A96AB"/>
                </a:solidFill>
                <a:latin typeface="Segoe UI"/>
              </a:rPr>
              <a:t>Worked example: session 2022-06-17_ST16-02 (ST16-02)   ·   microneurography + psychophysics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06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320040"/>
          </a:xfrm>
          <a:prstGeom prst="rect">
            <a:avLst/>
          </a:prstGeom>
          <a:noFill/>
        </p:spPr>
        <p:txBody>
          <a:bodyPr wrap="square" anchor="t">
            <a:spAutoFit/>
          </a:bodyPr>
          <a:lstStyle/>
          <a:p>
            <a:pPr algn="l">
              <a:spcBef>
                <a:spcPts val="0"/>
              </a:spcBef>
              <a:spcAft>
                <a:spcPts val="600"/>
              </a:spcAft>
            </a:pPr>
            <a:r>
              <a:rPr sz="1300" b="1" i="0">
                <a:solidFill>
                  <a:srgbClr val="E06A2B"/>
                </a:solidFill>
                <a:latin typeface="Segoe UI Semibold"/>
              </a:rPr>
              <a:t>ORIENTATION</a:t>
            </a:r>
          </a:p>
        </p:txBody>
      </p:sp>
      <p:sp>
        <p:nvSpPr>
          <p:cNvPr id="6" name="TextBox 5"/>
          <p:cNvSpPr txBox="1"/>
          <p:nvPr/>
        </p:nvSpPr>
        <p:spPr>
          <a:xfrm>
            <a:off x="457200" y="365760"/>
            <a:ext cx="11247120" cy="640080"/>
          </a:xfrm>
          <a:prstGeom prst="rect">
            <a:avLst/>
          </a:prstGeom>
          <a:noFill/>
        </p:spPr>
        <p:txBody>
          <a:bodyPr wrap="square" anchor="t">
            <a:spAutoFit/>
          </a:bodyPr>
          <a:lstStyle/>
          <a:p>
            <a:pPr algn="l">
              <a:spcBef>
                <a:spcPts val="0"/>
              </a:spcBef>
              <a:spcAft>
                <a:spcPts val="600"/>
              </a:spcAft>
            </a:pPr>
            <a:r>
              <a:rPr sz="2600" b="1" i="0">
                <a:solidFill>
                  <a:srgbClr val="FFFFFF"/>
                </a:solidFill>
                <a:latin typeface="Segoe UI"/>
              </a:rPr>
              <a:t>What we are building</a:t>
            </a:r>
          </a:p>
        </p:txBody>
      </p:sp>
      <p:sp>
        <p:nvSpPr>
          <p:cNvPr id="7" name="TextBox 6"/>
          <p:cNvSpPr txBox="1"/>
          <p:nvPr/>
        </p:nvSpPr>
        <p:spPr>
          <a:xfrm>
            <a:off x="457200" y="1371600"/>
            <a:ext cx="11247120" cy="1097280"/>
          </a:xfrm>
          <a:prstGeom prst="rect">
            <a:avLst/>
          </a:prstGeom>
          <a:noFill/>
        </p:spPr>
        <p:txBody>
          <a:bodyPr wrap="square" anchor="t">
            <a:spAutoFit/>
          </a:bodyPr>
          <a:lstStyle/>
          <a:p>
            <a:pPr algn="l">
              <a:spcBef>
                <a:spcPts val="0"/>
              </a:spcBef>
              <a:spcAft>
                <a:spcPts val="600"/>
              </a:spcAft>
            </a:pPr>
            <a:r>
              <a:rPr sz="1800" b="0" i="0">
                <a:solidFill>
                  <a:srgbClr val="222222"/>
                </a:solidFill>
                <a:latin typeface="Segoe UI"/>
              </a:rPr>
              <a:t>A neuron is one microneurography unit. Every millisecond we know its </a:t>
            </a:r>
            <a:r>
              <a:rPr sz="1800" b="1" i="0">
                <a:solidFill>
                  <a:srgbClr val="222222"/>
                </a:solidFill>
                <a:latin typeface="Segoe UI"/>
              </a:rPr>
              <a:t>instantaneous firing frequency (IFF)</a:t>
            </a:r>
            <a:r>
              <a:rPr sz="1800" b="0" i="0">
                <a:solidFill>
                  <a:srgbClr val="222222"/>
                </a:solidFill>
                <a:latin typeface="Segoe UI"/>
              </a:rPr>
              <a:t> and where the forearm was touched. The </a:t>
            </a:r>
            <a:r>
              <a:rPr sz="1800" b="1" i="0">
                <a:solidFill>
                  <a:srgbClr val="222222"/>
                </a:solidFill>
                <a:latin typeface="Segoe UI"/>
              </a:rPr>
              <a:t>receptive field</a:t>
            </a:r>
            <a:r>
              <a:rPr sz="1800" b="0" i="0">
                <a:solidFill>
                  <a:srgbClr val="222222"/>
                </a:solidFill>
                <a:latin typeface="Segoe UI"/>
              </a:rPr>
              <a:t> is the patch of skin where touch reliably drives the neuron.</a:t>
            </a:r>
          </a:p>
        </p:txBody>
      </p:sp>
      <p:sp>
        <p:nvSpPr>
          <p:cNvPr id="8" name="Rectangle 7"/>
          <p:cNvSpPr/>
          <p:nvPr/>
        </p:nvSpPr>
        <p:spPr>
          <a:xfrm>
            <a:off x="457200" y="2743200"/>
            <a:ext cx="2880360" cy="82296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743200"/>
            <a:ext cx="2697480" cy="822960"/>
          </a:xfrm>
          <a:prstGeom prst="rect">
            <a:avLst/>
          </a:prstGeom>
          <a:noFill/>
        </p:spPr>
        <p:txBody>
          <a:bodyPr wrap="square" anchor="ctr">
            <a:spAutoFit/>
          </a:bodyPr>
          <a:lstStyle/>
          <a:p>
            <a:pPr algn="l">
              <a:spcBef>
                <a:spcPts val="0"/>
              </a:spcBef>
              <a:spcAft>
                <a:spcPts val="600"/>
              </a:spcAft>
            </a:pPr>
            <a:r>
              <a:rPr sz="1600" b="1" i="0">
                <a:solidFill>
                  <a:srgbClr val="FFFFFF"/>
                </a:solidFill>
                <a:latin typeface="Segoe UI"/>
              </a:rPr>
              <a:t>0 · Preprocessing</a:t>
            </a:r>
          </a:p>
        </p:txBody>
      </p:sp>
      <p:sp>
        <p:nvSpPr>
          <p:cNvPr id="10" name="TextBox 9"/>
          <p:cNvSpPr txBox="1"/>
          <p:nvPr/>
        </p:nvSpPr>
        <p:spPr>
          <a:xfrm>
            <a:off x="3520440" y="2743200"/>
            <a:ext cx="8229600" cy="822960"/>
          </a:xfrm>
          <a:prstGeom prst="rect">
            <a:avLst/>
          </a:prstGeom>
          <a:noFill/>
        </p:spPr>
        <p:txBody>
          <a:bodyPr wrap="square" anchor="ctr">
            <a:spAutoFit/>
          </a:bodyPr>
          <a:lstStyle/>
          <a:p>
            <a:pPr algn="l">
              <a:spcBef>
                <a:spcPts val="0"/>
              </a:spcBef>
              <a:spcAft>
                <a:spcPts val="600"/>
              </a:spcAft>
            </a:pPr>
            <a:r>
              <a:rPr sz="1600" b="0" i="0">
                <a:solidFill>
                  <a:srgbClr val="222222"/>
                </a:solidFill>
                <a:latin typeface="Segoe UI"/>
              </a:rPr>
              <a:t>Merged CSV → clean per-touch contacts on the forearm; unwrap the 3-D surface to a flat 2-D map.</a:t>
            </a:r>
          </a:p>
        </p:txBody>
      </p:sp>
      <p:sp>
        <p:nvSpPr>
          <p:cNvPr id="11" name="Rectangle 10"/>
          <p:cNvSpPr/>
          <p:nvPr/>
        </p:nvSpPr>
        <p:spPr>
          <a:xfrm>
            <a:off x="457200" y="3675888"/>
            <a:ext cx="2880360" cy="82296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675888"/>
            <a:ext cx="2697480" cy="822960"/>
          </a:xfrm>
          <a:prstGeom prst="rect">
            <a:avLst/>
          </a:prstGeom>
          <a:noFill/>
        </p:spPr>
        <p:txBody>
          <a:bodyPr wrap="square" anchor="ctr">
            <a:spAutoFit/>
          </a:bodyPr>
          <a:lstStyle/>
          <a:p>
            <a:pPr algn="l">
              <a:spcBef>
                <a:spcPts val="0"/>
              </a:spcBef>
              <a:spcAft>
                <a:spcPts val="600"/>
              </a:spcAft>
            </a:pPr>
            <a:r>
              <a:rPr sz="1600" b="1" i="0">
                <a:solidFill>
                  <a:srgbClr val="FFFFFF"/>
                </a:solidFill>
                <a:latin typeface="Segoe UI"/>
              </a:rPr>
              <a:t>1 · Reduce a touch</a:t>
            </a:r>
          </a:p>
        </p:txBody>
      </p:sp>
      <p:sp>
        <p:nvSpPr>
          <p:cNvPr id="13" name="TextBox 12"/>
          <p:cNvSpPr txBox="1"/>
          <p:nvPr/>
        </p:nvSpPr>
        <p:spPr>
          <a:xfrm>
            <a:off x="3520440" y="3675888"/>
            <a:ext cx="8229600" cy="822960"/>
          </a:xfrm>
          <a:prstGeom prst="rect">
            <a:avLst/>
          </a:prstGeom>
          <a:noFill/>
        </p:spPr>
        <p:txBody>
          <a:bodyPr wrap="square" anchor="ctr">
            <a:spAutoFit/>
          </a:bodyPr>
          <a:lstStyle/>
          <a:p>
            <a:pPr algn="l">
              <a:spcBef>
                <a:spcPts val="0"/>
              </a:spcBef>
              <a:spcAft>
                <a:spcPts val="600"/>
              </a:spcAft>
            </a:pPr>
            <a:r>
              <a:rPr sz="1600" b="0" i="0">
                <a:solidFill>
                  <a:srgbClr val="222222"/>
                </a:solidFill>
                <a:latin typeface="Segoe UI"/>
              </a:rPr>
              <a:t>Each single touch → a sparse per-vertex IFF map.</a:t>
            </a:r>
          </a:p>
        </p:txBody>
      </p:sp>
      <p:sp>
        <p:nvSpPr>
          <p:cNvPr id="14" name="Rectangle 13"/>
          <p:cNvSpPr/>
          <p:nvPr/>
        </p:nvSpPr>
        <p:spPr>
          <a:xfrm>
            <a:off x="457200" y="4608576"/>
            <a:ext cx="2880360" cy="82296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608576"/>
            <a:ext cx="2697480" cy="822960"/>
          </a:xfrm>
          <a:prstGeom prst="rect">
            <a:avLst/>
          </a:prstGeom>
          <a:noFill/>
        </p:spPr>
        <p:txBody>
          <a:bodyPr wrap="square" anchor="ctr">
            <a:spAutoFit/>
          </a:bodyPr>
          <a:lstStyle/>
          <a:p>
            <a:pPr algn="l">
              <a:spcBef>
                <a:spcPts val="0"/>
              </a:spcBef>
              <a:spcAft>
                <a:spcPts val="600"/>
              </a:spcAft>
            </a:pPr>
            <a:r>
              <a:rPr sz="1600" b="1" i="0">
                <a:solidFill>
                  <a:srgbClr val="FFFFFF"/>
                </a:solidFill>
                <a:latin typeface="Segoe UI"/>
              </a:rPr>
              <a:t>2 · Aggregate</a:t>
            </a:r>
          </a:p>
        </p:txBody>
      </p:sp>
      <p:sp>
        <p:nvSpPr>
          <p:cNvPr id="16" name="TextBox 15"/>
          <p:cNvSpPr txBox="1"/>
          <p:nvPr/>
        </p:nvSpPr>
        <p:spPr>
          <a:xfrm>
            <a:off x="3520440" y="4608576"/>
            <a:ext cx="8229600" cy="822960"/>
          </a:xfrm>
          <a:prstGeom prst="rect">
            <a:avLst/>
          </a:prstGeom>
          <a:noFill/>
        </p:spPr>
        <p:txBody>
          <a:bodyPr wrap="square" anchor="ctr">
            <a:spAutoFit/>
          </a:bodyPr>
          <a:lstStyle/>
          <a:p>
            <a:pPr algn="l">
              <a:spcBef>
                <a:spcPts val="0"/>
              </a:spcBef>
              <a:spcAft>
                <a:spcPts val="600"/>
              </a:spcAft>
            </a:pPr>
            <a:r>
              <a:rPr sz="1600" b="0" i="0">
                <a:solidFill>
                  <a:srgbClr val="222222"/>
                </a:solidFill>
                <a:latin typeface="Segoe UI"/>
              </a:rPr>
              <a:t>Average all touches → one smooth heatmap on the 2-D surface.</a:t>
            </a:r>
          </a:p>
        </p:txBody>
      </p:sp>
      <p:sp>
        <p:nvSpPr>
          <p:cNvPr id="17" name="Rectangle 16"/>
          <p:cNvSpPr/>
          <p:nvPr/>
        </p:nvSpPr>
        <p:spPr>
          <a:xfrm>
            <a:off x="457200" y="5541264"/>
            <a:ext cx="2880360" cy="82296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541264"/>
            <a:ext cx="2697480" cy="822960"/>
          </a:xfrm>
          <a:prstGeom prst="rect">
            <a:avLst/>
          </a:prstGeom>
          <a:noFill/>
        </p:spPr>
        <p:txBody>
          <a:bodyPr wrap="square" anchor="ctr">
            <a:spAutoFit/>
          </a:bodyPr>
          <a:lstStyle/>
          <a:p>
            <a:pPr algn="l">
              <a:spcBef>
                <a:spcPts val="0"/>
              </a:spcBef>
              <a:spcAft>
                <a:spcPts val="600"/>
              </a:spcAft>
            </a:pPr>
            <a:r>
              <a:rPr sz="1600" b="1" i="0">
                <a:solidFill>
                  <a:srgbClr val="FFFFFF"/>
                </a:solidFill>
                <a:latin typeface="Segoe UI"/>
              </a:rPr>
              <a:t>3 · Define the RF</a:t>
            </a:r>
          </a:p>
        </p:txBody>
      </p:sp>
      <p:sp>
        <p:nvSpPr>
          <p:cNvPr id="19" name="TextBox 18"/>
          <p:cNvSpPr txBox="1"/>
          <p:nvPr/>
        </p:nvSpPr>
        <p:spPr>
          <a:xfrm>
            <a:off x="3520440" y="5541264"/>
            <a:ext cx="8229600" cy="822960"/>
          </a:xfrm>
          <a:prstGeom prst="rect">
            <a:avLst/>
          </a:prstGeom>
          <a:noFill/>
        </p:spPr>
        <p:txBody>
          <a:bodyPr wrap="square" anchor="ctr">
            <a:spAutoFit/>
          </a:bodyPr>
          <a:lstStyle/>
          <a:p>
            <a:pPr algn="l">
              <a:spcBef>
                <a:spcPts val="0"/>
              </a:spcBef>
              <a:spcAft>
                <a:spcPts val="600"/>
              </a:spcAft>
            </a:pPr>
            <a:r>
              <a:rPr sz="1600" b="0" i="0">
                <a:solidFill>
                  <a:srgbClr val="222222"/>
                </a:solidFill>
                <a:latin typeface="Segoe UI"/>
              </a:rPr>
              <a:t>Trace a boundary around the responsive region; measure its area, centroid, shape.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06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320040"/>
          </a:xfrm>
          <a:prstGeom prst="rect">
            <a:avLst/>
          </a:prstGeom>
          <a:noFill/>
        </p:spPr>
        <p:txBody>
          <a:bodyPr wrap="square" anchor="t">
            <a:spAutoFit/>
          </a:bodyPr>
          <a:lstStyle/>
          <a:p>
            <a:pPr algn="l">
              <a:spcBef>
                <a:spcPts val="0"/>
              </a:spcBef>
              <a:spcAft>
                <a:spcPts val="600"/>
              </a:spcAft>
            </a:pPr>
            <a:r>
              <a:rPr sz="1300" b="1" i="0">
                <a:solidFill>
                  <a:srgbClr val="E06A2B"/>
                </a:solidFill>
                <a:latin typeface="Segoe UI Semibold"/>
              </a:rPr>
              <a:t>STAGE 0 · PREPROCESSING</a:t>
            </a:r>
          </a:p>
        </p:txBody>
      </p:sp>
      <p:sp>
        <p:nvSpPr>
          <p:cNvPr id="6" name="TextBox 5"/>
          <p:cNvSpPr txBox="1"/>
          <p:nvPr/>
        </p:nvSpPr>
        <p:spPr>
          <a:xfrm>
            <a:off x="457200" y="365760"/>
            <a:ext cx="11247120" cy="640080"/>
          </a:xfrm>
          <a:prstGeom prst="rect">
            <a:avLst/>
          </a:prstGeom>
          <a:noFill/>
        </p:spPr>
        <p:txBody>
          <a:bodyPr wrap="square" anchor="t">
            <a:spAutoFit/>
          </a:bodyPr>
          <a:lstStyle/>
          <a:p>
            <a:pPr algn="l">
              <a:spcBef>
                <a:spcPts val="0"/>
              </a:spcBef>
              <a:spcAft>
                <a:spcPts val="600"/>
              </a:spcAft>
            </a:pPr>
            <a:r>
              <a:rPr sz="2600" b="1" i="0">
                <a:solidFill>
                  <a:srgbClr val="FFFFFF"/>
                </a:solidFill>
                <a:latin typeface="Segoe UI"/>
              </a:rPr>
              <a:t>Inputs &amp; preprocessing</a:t>
            </a:r>
          </a:p>
        </p:txBody>
      </p:sp>
      <p:sp>
        <p:nvSpPr>
          <p:cNvPr id="7" name="TextBox 6"/>
          <p:cNvSpPr txBox="1"/>
          <p:nvPr/>
        </p:nvSpPr>
        <p:spPr>
          <a:xfrm>
            <a:off x="457200" y="1234440"/>
            <a:ext cx="11247120" cy="457200"/>
          </a:xfrm>
          <a:prstGeom prst="rect">
            <a:avLst/>
          </a:prstGeom>
          <a:noFill/>
        </p:spPr>
        <p:txBody>
          <a:bodyPr wrap="square" anchor="t">
            <a:spAutoFit/>
          </a:bodyPr>
          <a:lstStyle/>
          <a:p>
            <a:pPr algn="l">
              <a:spcBef>
                <a:spcPts val="0"/>
              </a:spcBef>
              <a:spcAft>
                <a:spcPts val="600"/>
              </a:spcAft>
            </a:pPr>
            <a:r>
              <a:rPr sz="1600" b="1" i="0">
                <a:solidFill>
                  <a:srgbClr val="1F2A44"/>
                </a:solidFill>
                <a:latin typeface="Segoe UI"/>
              </a:rPr>
              <a:t>① the initial merged CSV (contacts, spikes, IFF, IDs per 1 kHz row); ② the input forearm point cloud (17,578 RF-centred vertices); ③ the preprocessing steps; ④ session summary — 755 touches, 280 M contact points, 752 spike touches.</a:t>
            </a:r>
          </a:p>
        </p:txBody>
      </p:sp>
      <p:pic>
        <p:nvPicPr>
          <p:cNvPr id="8" name="Picture 7" descr="01_raw_input.png"/>
          <p:cNvPicPr>
            <a:picLocks noChangeAspect="1"/>
          </p:cNvPicPr>
          <p:nvPr/>
        </p:nvPicPr>
        <p:blipFill>
          <a:blip r:embed="rId2"/>
          <a:stretch>
            <a:fillRect/>
          </a:stretch>
        </p:blipFill>
        <p:spPr>
          <a:xfrm>
            <a:off x="2878152" y="1783080"/>
            <a:ext cx="6405215" cy="4114800"/>
          </a:xfrm>
          <a:prstGeom prst="rect">
            <a:avLst/>
          </a:prstGeom>
        </p:spPr>
      </p:pic>
      <p:sp>
        <p:nvSpPr>
          <p:cNvPr id="9" name="TextBox 8"/>
          <p:cNvSpPr txBox="1"/>
          <p:nvPr/>
        </p:nvSpPr>
        <p:spPr>
          <a:xfrm>
            <a:off x="457200" y="6035040"/>
            <a:ext cx="11247120" cy="731520"/>
          </a:xfrm>
          <a:prstGeom prst="rect">
            <a:avLst/>
          </a:prstGeom>
          <a:noFill/>
        </p:spPr>
        <p:txBody>
          <a:bodyPr wrap="square" anchor="t">
            <a:spAutoFit/>
          </a:bodyPr>
          <a:lstStyle/>
          <a:p>
            <a:pPr algn="l">
              <a:spcBef>
                <a:spcPts val="0"/>
              </a:spcBef>
              <a:spcAft>
                <a:spcPts val="600"/>
              </a:spcAft>
            </a:pPr>
            <a:r>
              <a:rPr sz="1200" b="0" i="1">
                <a:solidFill>
                  <a:srgbClr val="666666"/>
                </a:solidFill>
                <a:latin typeface="Segoe UI"/>
              </a:rPr>
              <a:t>Merged CSV (1 kHz) + forearm point cloud → grouped, de-duplicated, snapped per-touch contacts.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06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320040"/>
          </a:xfrm>
          <a:prstGeom prst="rect">
            <a:avLst/>
          </a:prstGeom>
          <a:noFill/>
        </p:spPr>
        <p:txBody>
          <a:bodyPr wrap="square" anchor="t">
            <a:spAutoFit/>
          </a:bodyPr>
          <a:lstStyle/>
          <a:p>
            <a:pPr algn="l">
              <a:spcBef>
                <a:spcPts val="0"/>
              </a:spcBef>
              <a:spcAft>
                <a:spcPts val="600"/>
              </a:spcAft>
            </a:pPr>
            <a:r>
              <a:rPr sz="1300" b="1" i="0">
                <a:solidFill>
                  <a:srgbClr val="E06A2B"/>
                </a:solidFill>
                <a:latin typeface="Segoe UI Semibold"/>
              </a:rPr>
              <a:t>STAGE 0 · PREPROCESSING</a:t>
            </a:r>
          </a:p>
        </p:txBody>
      </p:sp>
      <p:sp>
        <p:nvSpPr>
          <p:cNvPr id="6" name="TextBox 5"/>
          <p:cNvSpPr txBox="1"/>
          <p:nvPr/>
        </p:nvSpPr>
        <p:spPr>
          <a:xfrm>
            <a:off x="457200" y="365760"/>
            <a:ext cx="11247120" cy="640080"/>
          </a:xfrm>
          <a:prstGeom prst="rect">
            <a:avLst/>
          </a:prstGeom>
          <a:noFill/>
        </p:spPr>
        <p:txBody>
          <a:bodyPr wrap="square" anchor="t">
            <a:spAutoFit/>
          </a:bodyPr>
          <a:lstStyle/>
          <a:p>
            <a:pPr algn="l">
              <a:spcBef>
                <a:spcPts val="0"/>
              </a:spcBef>
              <a:spcAft>
                <a:spcPts val="600"/>
              </a:spcAft>
            </a:pPr>
            <a:r>
              <a:rPr sz="2600" b="1" i="0">
                <a:solidFill>
                  <a:srgbClr val="FFFFFF"/>
                </a:solidFill>
                <a:latin typeface="Segoe UI"/>
              </a:rPr>
              <a:t>Unwrapping the forearm (SLIM UV)</a:t>
            </a:r>
          </a:p>
        </p:txBody>
      </p:sp>
      <p:pic>
        <p:nvPicPr>
          <p:cNvPr id="7" name="Picture 6" descr="02_slim_unwrap.png"/>
          <p:cNvPicPr>
            <a:picLocks noChangeAspect="1"/>
          </p:cNvPicPr>
          <p:nvPr/>
        </p:nvPicPr>
        <p:blipFill>
          <a:blip r:embed="rId2"/>
          <a:stretch>
            <a:fillRect/>
          </a:stretch>
        </p:blipFill>
        <p:spPr>
          <a:xfrm>
            <a:off x="320040" y="1817370"/>
            <a:ext cx="7452360" cy="3726180"/>
          </a:xfrm>
          <a:prstGeom prst="rect">
            <a:avLst/>
          </a:prstGeom>
        </p:spPr>
      </p:pic>
      <p:sp>
        <p:nvSpPr>
          <p:cNvPr id="8" name="TextBox 7"/>
          <p:cNvSpPr txBox="1"/>
          <p:nvPr/>
        </p:nvSpPr>
        <p:spPr>
          <a:xfrm>
            <a:off x="320040" y="6126480"/>
            <a:ext cx="7452360" cy="640080"/>
          </a:xfrm>
          <a:prstGeom prst="rect">
            <a:avLst/>
          </a:prstGeom>
          <a:noFill/>
        </p:spPr>
        <p:txBody>
          <a:bodyPr wrap="square" anchor="t">
            <a:spAutoFit/>
          </a:bodyPr>
          <a:lstStyle/>
          <a:p>
            <a:pPr algn="l">
              <a:spcBef>
                <a:spcPts val="0"/>
              </a:spcBef>
              <a:spcAft>
                <a:spcPts val="600"/>
              </a:spcAft>
            </a:pPr>
            <a:r>
              <a:rPr sz="1200" b="0" i="1">
                <a:solidFill>
                  <a:srgbClr val="666666"/>
                </a:solidFill>
                <a:latin typeface="Segoe UI"/>
              </a:rPr>
              <a:t>Left: 3-D forearm mesh. Right: the same mesh flattened to the UV plane — every later figure lives here.</a:t>
            </a:r>
          </a:p>
        </p:txBody>
      </p:sp>
      <p:sp>
        <p:nvSpPr>
          <p:cNvPr id="9" name="TextBox 8"/>
          <p:cNvSpPr txBox="1"/>
          <p:nvPr/>
        </p:nvSpPr>
        <p:spPr>
          <a:xfrm>
            <a:off x="8001000" y="1463040"/>
            <a:ext cx="3886200" cy="4937760"/>
          </a:xfrm>
          <a:prstGeom prst="rect">
            <a:avLst/>
          </a:prstGeom>
          <a:noFill/>
        </p:spPr>
        <p:txBody>
          <a:bodyPr wrap="square">
            <a:spAutoFit/>
          </a:bodyPr>
          <a:lstStyle/>
          <a:p>
            <a:pPr>
              <a:spcAft>
                <a:spcPts val="800"/>
              </a:spcAft>
            </a:pPr>
            <a:r>
              <a:rPr sz="1700">
                <a:solidFill>
                  <a:srgbClr val="222222"/>
                </a:solidFill>
                <a:latin typeface="Segoe UI"/>
              </a:rPr>
              <a:t>•  The forearm is curved — area &amp; boundaries are easier on a flat map</a:t>
            </a:r>
          </a:p>
          <a:p>
            <a:pPr>
              <a:spcAft>
                <a:spcPts val="800"/>
              </a:spcAft>
            </a:pPr>
            <a:r>
              <a:rPr sz="1700">
                <a:solidFill>
                  <a:srgbClr val="222222"/>
                </a:solidFill>
                <a:latin typeface="Segoe UI"/>
              </a:rPr>
              <a:t>•  run_slim_pipeline_core builds + cleans a mesh, then flattens it</a:t>
            </a:r>
          </a:p>
          <a:p>
            <a:pPr>
              <a:spcAft>
                <a:spcPts val="800"/>
              </a:spcAft>
            </a:pPr>
            <a:r>
              <a:rPr sz="1700">
                <a:solidFill>
                  <a:srgbClr val="222222"/>
                </a:solidFill>
                <a:latin typeface="Segoe UI"/>
              </a:rPr>
              <a:t>•  Every vertex gets a 2-D (U, V) coordinate</a:t>
            </a:r>
          </a:p>
          <a:p>
            <a:pPr>
              <a:spcAft>
                <a:spcPts val="800"/>
              </a:spcAft>
            </a:pPr>
            <a:r>
              <a:rPr sz="1700">
                <a:solidFill>
                  <a:srgbClr val="222222"/>
                </a:solidFill>
                <a:latin typeface="Segoe UI"/>
              </a:rPr>
              <a:t>•  IFF-weighted centroid = origin, so the RF sits near (0, 0)</a:t>
            </a:r>
          </a:p>
          <a:p>
            <a:pPr lvl="1">
              <a:spcAft>
                <a:spcPts val="800"/>
              </a:spcAft>
            </a:pPr>
            <a:r>
              <a:rPr sz="1500">
                <a:solidFill>
                  <a:srgbClr val="222222"/>
                </a:solidFill>
                <a:latin typeface="Segoe UI"/>
              </a:rPr>
              <a:t>–  Cached once per session as &lt;session&gt;_slim_uv.npz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06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320040"/>
          </a:xfrm>
          <a:prstGeom prst="rect">
            <a:avLst/>
          </a:prstGeom>
          <a:noFill/>
        </p:spPr>
        <p:txBody>
          <a:bodyPr wrap="square" anchor="t">
            <a:spAutoFit/>
          </a:bodyPr>
          <a:lstStyle/>
          <a:p>
            <a:pPr algn="l">
              <a:spcBef>
                <a:spcPts val="0"/>
              </a:spcBef>
              <a:spcAft>
                <a:spcPts val="600"/>
              </a:spcAft>
            </a:pPr>
            <a:r>
              <a:rPr sz="1300" b="1" i="0">
                <a:solidFill>
                  <a:srgbClr val="E06A2B"/>
                </a:solidFill>
                <a:latin typeface="Segoe UI Semibold"/>
              </a:rPr>
              <a:t>STAGE 1 · REDUCE A SINGLE TOUCH</a:t>
            </a:r>
          </a:p>
        </p:txBody>
      </p:sp>
      <p:sp>
        <p:nvSpPr>
          <p:cNvPr id="6" name="TextBox 5"/>
          <p:cNvSpPr txBox="1"/>
          <p:nvPr/>
        </p:nvSpPr>
        <p:spPr>
          <a:xfrm>
            <a:off x="457200" y="365760"/>
            <a:ext cx="11247120" cy="640080"/>
          </a:xfrm>
          <a:prstGeom prst="rect">
            <a:avLst/>
          </a:prstGeom>
          <a:noFill/>
        </p:spPr>
        <p:txBody>
          <a:bodyPr wrap="square" anchor="t">
            <a:spAutoFit/>
          </a:bodyPr>
          <a:lstStyle/>
          <a:p>
            <a:pPr algn="l">
              <a:spcBef>
                <a:spcPts val="0"/>
              </a:spcBef>
              <a:spcAft>
                <a:spcPts val="600"/>
              </a:spcAft>
            </a:pPr>
            <a:r>
              <a:rPr sz="2600" b="1" i="0">
                <a:solidFill>
                  <a:srgbClr val="FFFFFF"/>
                </a:solidFill>
                <a:latin typeface="Segoe UI"/>
              </a:rPr>
              <a:t>One touch → a sparse map</a:t>
            </a:r>
          </a:p>
        </p:txBody>
      </p:sp>
      <p:pic>
        <p:nvPicPr>
          <p:cNvPr id="7" name="Picture 6" descr="03_single_touch.png"/>
          <p:cNvPicPr>
            <a:picLocks noChangeAspect="1"/>
          </p:cNvPicPr>
          <p:nvPr/>
        </p:nvPicPr>
        <p:blipFill>
          <a:blip r:embed="rId2"/>
          <a:stretch>
            <a:fillRect/>
          </a:stretch>
        </p:blipFill>
        <p:spPr>
          <a:xfrm>
            <a:off x="320040" y="2005926"/>
            <a:ext cx="7452360" cy="3349067"/>
          </a:xfrm>
          <a:prstGeom prst="rect">
            <a:avLst/>
          </a:prstGeom>
        </p:spPr>
      </p:pic>
      <p:sp>
        <p:nvSpPr>
          <p:cNvPr id="8" name="TextBox 7"/>
          <p:cNvSpPr txBox="1"/>
          <p:nvPr/>
        </p:nvSpPr>
        <p:spPr>
          <a:xfrm>
            <a:off x="320040" y="6126480"/>
            <a:ext cx="7452360" cy="640080"/>
          </a:xfrm>
          <a:prstGeom prst="rect">
            <a:avLst/>
          </a:prstGeom>
          <a:noFill/>
        </p:spPr>
        <p:txBody>
          <a:bodyPr wrap="square" anchor="t">
            <a:spAutoFit/>
          </a:bodyPr>
          <a:lstStyle/>
          <a:p>
            <a:pPr algn="l">
              <a:spcBef>
                <a:spcPts val="0"/>
              </a:spcBef>
              <a:spcAft>
                <a:spcPts val="600"/>
              </a:spcAft>
            </a:pPr>
            <a:r>
              <a:rPr sz="1200" b="0" i="1">
                <a:solidFill>
                  <a:srgbClr val="666666"/>
                </a:solidFill>
                <a:latin typeface="Segoe UI"/>
              </a:rPr>
              <a:t>A representative proximal stroke (touch #166, 576 vertices) coloured by mean IFF, on the forearm (left) and the UV unwrap (right). Note the hot spot fading to the edges.</a:t>
            </a:r>
          </a:p>
        </p:txBody>
      </p:sp>
      <p:sp>
        <p:nvSpPr>
          <p:cNvPr id="9" name="TextBox 8"/>
          <p:cNvSpPr txBox="1"/>
          <p:nvPr/>
        </p:nvSpPr>
        <p:spPr>
          <a:xfrm>
            <a:off x="8001000" y="1463040"/>
            <a:ext cx="3886200" cy="4937760"/>
          </a:xfrm>
          <a:prstGeom prst="rect">
            <a:avLst/>
          </a:prstGeom>
          <a:noFill/>
        </p:spPr>
        <p:txBody>
          <a:bodyPr wrap="square">
            <a:spAutoFit/>
          </a:bodyPr>
          <a:lstStyle/>
          <a:p>
            <a:pPr>
              <a:spcAft>
                <a:spcPts val="800"/>
              </a:spcAft>
            </a:pPr>
            <a:r>
              <a:rPr sz="1700">
                <a:solidFill>
                  <a:srgbClr val="222222"/>
                </a:solidFill>
                <a:latin typeface="Segoe UI"/>
              </a:rPr>
              <a:t>•  _compute_touch_rf accumulates IFF at touched vertices</a:t>
            </a:r>
          </a:p>
          <a:p>
            <a:pPr>
              <a:spcAft>
                <a:spcPts val="800"/>
              </a:spcAft>
            </a:pPr>
            <a:r>
              <a:rPr sz="1700">
                <a:solidFill>
                  <a:srgbClr val="222222"/>
                </a:solidFill>
                <a:latin typeface="Segoe UI"/>
              </a:rPr>
              <a:t>•  Running mean (np.add.at) and max (np.maximum.at) per vertex</a:t>
            </a:r>
          </a:p>
          <a:p>
            <a:pPr>
              <a:spcAft>
                <a:spcPts val="800"/>
              </a:spcAft>
            </a:pPr>
            <a:r>
              <a:rPr sz="1700">
                <a:solidFill>
                  <a:srgbClr val="222222"/>
                </a:solidFill>
                <a:latin typeface="Segoe UI"/>
              </a:rPr>
              <a:t>•  Drops vertices where the neuron signal was NaN</a:t>
            </a:r>
          </a:p>
          <a:p>
            <a:pPr>
              <a:spcAft>
                <a:spcPts val="800"/>
              </a:spcAft>
            </a:pPr>
            <a:r>
              <a:rPr sz="1700">
                <a:solidFill>
                  <a:srgbClr val="222222"/>
                </a:solidFill>
                <a:latin typeface="Segoe UI"/>
              </a:rPr>
              <a:t>•  Output: a short list of (vertex, mean-IFF) pairs per touch</a:t>
            </a:r>
          </a:p>
          <a:p>
            <a:pPr lvl="1">
              <a:spcAft>
                <a:spcPts val="800"/>
              </a:spcAft>
            </a:pPr>
            <a:r>
              <a:rPr sz="1500">
                <a:solidFill>
                  <a:srgbClr val="222222"/>
                </a:solidFill>
                <a:latin typeface="Segoe UI"/>
              </a:rPr>
              <a:t>–  Saved to single_touch_rf_maps_mean.npz / _max.npz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06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320040"/>
          </a:xfrm>
          <a:prstGeom prst="rect">
            <a:avLst/>
          </a:prstGeom>
          <a:noFill/>
        </p:spPr>
        <p:txBody>
          <a:bodyPr wrap="square" anchor="t">
            <a:spAutoFit/>
          </a:bodyPr>
          <a:lstStyle/>
          <a:p>
            <a:pPr algn="l">
              <a:spcBef>
                <a:spcPts val="0"/>
              </a:spcBef>
              <a:spcAft>
                <a:spcPts val="600"/>
              </a:spcAft>
            </a:pPr>
            <a:r>
              <a:rPr sz="1300" b="1" i="0">
                <a:solidFill>
                  <a:srgbClr val="E06A2B"/>
                </a:solidFill>
                <a:latin typeface="Segoe UI Semibold"/>
              </a:rPr>
              <a:t>STAGE 1 · INSIDE ONE TOUCH</a:t>
            </a:r>
          </a:p>
        </p:txBody>
      </p:sp>
      <p:sp>
        <p:nvSpPr>
          <p:cNvPr id="6" name="TextBox 5"/>
          <p:cNvSpPr txBox="1"/>
          <p:nvPr/>
        </p:nvSpPr>
        <p:spPr>
          <a:xfrm>
            <a:off x="457200" y="365760"/>
            <a:ext cx="11247120" cy="640080"/>
          </a:xfrm>
          <a:prstGeom prst="rect">
            <a:avLst/>
          </a:prstGeom>
          <a:noFill/>
        </p:spPr>
        <p:txBody>
          <a:bodyPr wrap="square" anchor="t">
            <a:spAutoFit/>
          </a:bodyPr>
          <a:lstStyle/>
          <a:p>
            <a:pPr algn="l">
              <a:spcBef>
                <a:spcPts val="0"/>
              </a:spcBef>
              <a:spcAft>
                <a:spcPts val="600"/>
              </a:spcAft>
            </a:pPr>
            <a:r>
              <a:rPr sz="2600" b="1" i="0">
                <a:solidFill>
                  <a:srgbClr val="FFFFFF"/>
                </a:solidFill>
                <a:latin typeface="Segoe UI"/>
              </a:rPr>
              <a:t>Frame by frame — the RF in miniature</a:t>
            </a:r>
          </a:p>
        </p:txBody>
      </p:sp>
      <p:sp>
        <p:nvSpPr>
          <p:cNvPr id="7" name="TextBox 6"/>
          <p:cNvSpPr txBox="1"/>
          <p:nvPr/>
        </p:nvSpPr>
        <p:spPr>
          <a:xfrm>
            <a:off x="457200" y="1234440"/>
            <a:ext cx="11247120" cy="457200"/>
          </a:xfrm>
          <a:prstGeom prst="rect">
            <a:avLst/>
          </a:prstGeom>
          <a:noFill/>
        </p:spPr>
        <p:txBody>
          <a:bodyPr wrap="square" anchor="t">
            <a:spAutoFit/>
          </a:bodyPr>
          <a:lstStyle/>
          <a:p>
            <a:pPr algn="l">
              <a:spcBef>
                <a:spcPts val="0"/>
              </a:spcBef>
              <a:spcAft>
                <a:spcPts val="600"/>
              </a:spcAft>
            </a:pPr>
            <a:r>
              <a:rPr sz="1600" b="1" i="0">
                <a:solidFill>
                  <a:srgbClr val="1F2A44"/>
                </a:solidFill>
                <a:latin typeface="Segoe UI"/>
              </a:rPr>
              <a:t>The fingertip sweeps proximally; the neuron fires at ~5 Hz (frames 1–3), climbs to 22 Hz (frame 4), spikes to 79 Hz (frame 5), then drops to 3 Hz (frame 6). It responds strongly only where the contact crosses one patch of skin — that patch is the receptive field.</a:t>
            </a:r>
          </a:p>
        </p:txBody>
      </p:sp>
      <p:pic>
        <p:nvPicPr>
          <p:cNvPr id="8" name="Picture 7" descr="03a_touch_frames.png"/>
          <p:cNvPicPr>
            <a:picLocks noChangeAspect="1"/>
          </p:cNvPicPr>
          <p:nvPr/>
        </p:nvPicPr>
        <p:blipFill>
          <a:blip r:embed="rId2"/>
          <a:stretch>
            <a:fillRect/>
          </a:stretch>
        </p:blipFill>
        <p:spPr>
          <a:xfrm>
            <a:off x="320040" y="2475134"/>
            <a:ext cx="11521440" cy="2730691"/>
          </a:xfrm>
          <a:prstGeom prst="rect">
            <a:avLst/>
          </a:prstGeom>
        </p:spPr>
      </p:pic>
      <p:sp>
        <p:nvSpPr>
          <p:cNvPr id="9" name="TextBox 8"/>
          <p:cNvSpPr txBox="1"/>
          <p:nvPr/>
        </p:nvSpPr>
        <p:spPr>
          <a:xfrm>
            <a:off x="457200" y="6035040"/>
            <a:ext cx="11247120" cy="731520"/>
          </a:xfrm>
          <a:prstGeom prst="rect">
            <a:avLst/>
          </a:prstGeom>
          <a:noFill/>
        </p:spPr>
        <p:txBody>
          <a:bodyPr wrap="square" anchor="t">
            <a:spAutoFit/>
          </a:bodyPr>
          <a:lstStyle/>
          <a:p>
            <a:pPr algn="l">
              <a:spcBef>
                <a:spcPts val="0"/>
              </a:spcBef>
              <a:spcAft>
                <a:spcPts val="600"/>
              </a:spcAft>
            </a:pPr>
            <a:r>
              <a:rPr sz="1200" b="0" i="1">
                <a:solidFill>
                  <a:srgbClr val="666666"/>
                </a:solidFill>
                <a:latin typeface="Segoe UI"/>
              </a:rPr>
              <a:t>Touch #166 = 200 frames at 1 kHz, but contact updates at ~30 Hz → 6 contact frames.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06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320040"/>
          </a:xfrm>
          <a:prstGeom prst="rect">
            <a:avLst/>
          </a:prstGeom>
          <a:noFill/>
        </p:spPr>
        <p:txBody>
          <a:bodyPr wrap="square" anchor="t">
            <a:spAutoFit/>
          </a:bodyPr>
          <a:lstStyle/>
          <a:p>
            <a:pPr algn="l">
              <a:spcBef>
                <a:spcPts val="0"/>
              </a:spcBef>
              <a:spcAft>
                <a:spcPts val="600"/>
              </a:spcAft>
            </a:pPr>
            <a:r>
              <a:rPr sz="1300" b="1" i="0">
                <a:solidFill>
                  <a:srgbClr val="E06A2B"/>
                </a:solidFill>
                <a:latin typeface="Segoe UI Semibold"/>
              </a:rPr>
              <a:t>STAGE 1 · INSIDE ONE TOUCH</a:t>
            </a:r>
          </a:p>
        </p:txBody>
      </p:sp>
      <p:sp>
        <p:nvSpPr>
          <p:cNvPr id="6" name="TextBox 5"/>
          <p:cNvSpPr txBox="1"/>
          <p:nvPr/>
        </p:nvSpPr>
        <p:spPr>
          <a:xfrm>
            <a:off x="457200" y="365760"/>
            <a:ext cx="11247120" cy="640080"/>
          </a:xfrm>
          <a:prstGeom prst="rect">
            <a:avLst/>
          </a:prstGeom>
          <a:noFill/>
        </p:spPr>
        <p:txBody>
          <a:bodyPr wrap="square" anchor="t">
            <a:spAutoFit/>
          </a:bodyPr>
          <a:lstStyle/>
          <a:p>
            <a:pPr algn="l">
              <a:spcBef>
                <a:spcPts val="0"/>
              </a:spcBef>
              <a:spcAft>
                <a:spcPts val="600"/>
              </a:spcAft>
            </a:pPr>
            <a:r>
              <a:rPr sz="2600" b="1" i="0">
                <a:solidFill>
                  <a:srgbClr val="FFFFFF"/>
                </a:solidFill>
                <a:latin typeface="Segoe UI"/>
              </a:rPr>
              <a:t>Grouping &amp; averaging (mean)</a:t>
            </a:r>
          </a:p>
        </p:txBody>
      </p:sp>
      <p:sp>
        <p:nvSpPr>
          <p:cNvPr id="7" name="TextBox 6"/>
          <p:cNvSpPr txBox="1"/>
          <p:nvPr/>
        </p:nvSpPr>
        <p:spPr>
          <a:xfrm>
            <a:off x="457200" y="1234440"/>
            <a:ext cx="11247120" cy="457200"/>
          </a:xfrm>
          <a:prstGeom prst="rect">
            <a:avLst/>
          </a:prstGeom>
          <a:noFill/>
        </p:spPr>
        <p:txBody>
          <a:bodyPr wrap="square" anchor="t">
            <a:spAutoFit/>
          </a:bodyPr>
          <a:lstStyle/>
          <a:p>
            <a:pPr algn="l">
              <a:spcBef>
                <a:spcPts val="0"/>
              </a:spcBef>
              <a:spcAft>
                <a:spcPts val="600"/>
              </a:spcAft>
            </a:pPr>
            <a:r>
              <a:rPr sz="1600" b="1" i="0">
                <a:solidFill>
                  <a:srgbClr val="1F2A44"/>
                </a:solidFill>
                <a:latin typeface="Segoe UI"/>
              </a:rPr>
              <a:t>Left: Σ IFF per vertex. Middle: how many of the 200 frames touched each vertex. Right: mean = Σ / count — the 576-value sparse map. The bright core is where the high-IFF frame 5 landed.</a:t>
            </a:r>
          </a:p>
        </p:txBody>
      </p:sp>
      <p:pic>
        <p:nvPicPr>
          <p:cNvPr id="8" name="Picture 7" descr="03b_grouping_averaging.png"/>
          <p:cNvPicPr>
            <a:picLocks noChangeAspect="1"/>
          </p:cNvPicPr>
          <p:nvPr/>
        </p:nvPicPr>
        <p:blipFill>
          <a:blip r:embed="rId2"/>
          <a:stretch>
            <a:fillRect/>
          </a:stretch>
        </p:blipFill>
        <p:spPr>
          <a:xfrm>
            <a:off x="320040" y="1999572"/>
            <a:ext cx="11521440" cy="3681814"/>
          </a:xfrm>
          <a:prstGeom prst="rect">
            <a:avLst/>
          </a:prstGeom>
        </p:spPr>
      </p:pic>
      <p:sp>
        <p:nvSpPr>
          <p:cNvPr id="9" name="TextBox 8"/>
          <p:cNvSpPr txBox="1"/>
          <p:nvPr/>
        </p:nvSpPr>
        <p:spPr>
          <a:xfrm>
            <a:off x="457200" y="6035040"/>
            <a:ext cx="11247120" cy="731520"/>
          </a:xfrm>
          <a:prstGeom prst="rect">
            <a:avLst/>
          </a:prstGeom>
          <a:noFill/>
        </p:spPr>
        <p:txBody>
          <a:bodyPr wrap="square" anchor="t">
            <a:spAutoFit/>
          </a:bodyPr>
          <a:lstStyle/>
          <a:p>
            <a:pPr algn="l">
              <a:spcBef>
                <a:spcPts val="0"/>
              </a:spcBef>
              <a:spcAft>
                <a:spcPts val="600"/>
              </a:spcAft>
            </a:pPr>
            <a:r>
              <a:rPr sz="1200" b="0" i="1">
                <a:solidFill>
                  <a:srgbClr val="666666"/>
                </a:solidFill>
                <a:latin typeface="Segoe UI"/>
              </a:rPr>
              <a:t>_compute_touch_rf: each vertex accumulates IFF over the frames that touch it, then Σ ÷ count.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06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320040"/>
          </a:xfrm>
          <a:prstGeom prst="rect">
            <a:avLst/>
          </a:prstGeom>
          <a:noFill/>
        </p:spPr>
        <p:txBody>
          <a:bodyPr wrap="square" anchor="t">
            <a:spAutoFit/>
          </a:bodyPr>
          <a:lstStyle/>
          <a:p>
            <a:pPr algn="l">
              <a:spcBef>
                <a:spcPts val="0"/>
              </a:spcBef>
              <a:spcAft>
                <a:spcPts val="600"/>
              </a:spcAft>
            </a:pPr>
            <a:r>
              <a:rPr sz="1300" b="1" i="0">
                <a:solidFill>
                  <a:srgbClr val="E06A2B"/>
                </a:solidFill>
                <a:latin typeface="Segoe UI Semibold"/>
              </a:rPr>
              <a:t>STAGE 1 · INSIDE ONE TOUCH</a:t>
            </a:r>
          </a:p>
        </p:txBody>
      </p:sp>
      <p:sp>
        <p:nvSpPr>
          <p:cNvPr id="6" name="TextBox 5"/>
          <p:cNvSpPr txBox="1"/>
          <p:nvPr/>
        </p:nvSpPr>
        <p:spPr>
          <a:xfrm>
            <a:off x="457200" y="365760"/>
            <a:ext cx="11247120" cy="640080"/>
          </a:xfrm>
          <a:prstGeom prst="rect">
            <a:avLst/>
          </a:prstGeom>
          <a:noFill/>
        </p:spPr>
        <p:txBody>
          <a:bodyPr wrap="square" anchor="t">
            <a:spAutoFit/>
          </a:bodyPr>
          <a:lstStyle/>
          <a:p>
            <a:pPr algn="l">
              <a:spcBef>
                <a:spcPts val="0"/>
              </a:spcBef>
              <a:spcAft>
                <a:spcPts val="600"/>
              </a:spcAft>
            </a:pPr>
            <a:r>
              <a:rPr sz="2600" b="1" i="0">
                <a:solidFill>
                  <a:srgbClr val="FFFFFF"/>
                </a:solidFill>
                <a:latin typeface="Segoe UI"/>
              </a:rPr>
              <a:t>This touch's attributes</a:t>
            </a:r>
          </a:p>
        </p:txBody>
      </p:sp>
      <p:pic>
        <p:nvPicPr>
          <p:cNvPr id="7" name="Picture 6" descr="03c_attributes.png"/>
          <p:cNvPicPr>
            <a:picLocks noChangeAspect="1"/>
          </p:cNvPicPr>
          <p:nvPr/>
        </p:nvPicPr>
        <p:blipFill>
          <a:blip r:embed="rId2"/>
          <a:stretch>
            <a:fillRect/>
          </a:stretch>
        </p:blipFill>
        <p:spPr>
          <a:xfrm>
            <a:off x="1068679" y="1325880"/>
            <a:ext cx="5543600" cy="5120640"/>
          </a:xfrm>
          <a:prstGeom prst="rect">
            <a:avLst/>
          </a:prstGeom>
        </p:spPr>
      </p:pic>
      <p:sp>
        <p:nvSpPr>
          <p:cNvPr id="8" name="TextBox 7"/>
          <p:cNvSpPr txBox="1"/>
          <p:nvPr/>
        </p:nvSpPr>
        <p:spPr>
          <a:xfrm>
            <a:off x="7635240" y="1737360"/>
            <a:ext cx="4206240" cy="4572000"/>
          </a:xfrm>
          <a:prstGeom prst="rect">
            <a:avLst/>
          </a:prstGeom>
          <a:noFill/>
        </p:spPr>
        <p:txBody>
          <a:bodyPr wrap="square">
            <a:spAutoFit/>
          </a:bodyPr>
          <a:lstStyle/>
          <a:p>
            <a:pPr>
              <a:spcAft>
                <a:spcPts val="800"/>
              </a:spcAft>
            </a:pPr>
            <a:r>
              <a:rPr sz="1600">
                <a:solidFill>
                  <a:srgbClr val="222222"/>
                </a:solidFill>
                <a:latin typeface="Segoe UI"/>
              </a:rPr>
              <a:t>•  Every touch carries stimulus + kinematic context</a:t>
            </a:r>
          </a:p>
          <a:p>
            <a:pPr>
              <a:spcAft>
                <a:spcPts val="800"/>
              </a:spcAft>
            </a:pPr>
            <a:r>
              <a:rPr sz="1600">
                <a:solidFill>
                  <a:srgbClr val="222222"/>
                </a:solidFill>
                <a:latin typeface="Segoe UI"/>
              </a:rPr>
              <a:t>•  Instructed: light, one-finger-tip proximal stroke @ 18 cm/s</a:t>
            </a:r>
          </a:p>
          <a:p>
            <a:pPr>
              <a:spcAft>
                <a:spcPts val="800"/>
              </a:spcAft>
            </a:pPr>
            <a:r>
              <a:rPr sz="1600">
                <a:solidFill>
                  <a:srgbClr val="222222"/>
                </a:solidFill>
                <a:latin typeface="Segoe UI"/>
              </a:rPr>
              <a:t>•  Measured: ~210 mm/s, 6.7 mm depth, 187 mm² area</a:t>
            </a:r>
          </a:p>
          <a:p>
            <a:pPr>
              <a:spcAft>
                <a:spcPts val="800"/>
              </a:spcAft>
            </a:pPr>
            <a:r>
              <a:rPr sz="1600">
                <a:solidFill>
                  <a:srgbClr val="222222"/>
                </a:solidFill>
                <a:latin typeface="Segoe UI"/>
              </a:rPr>
              <a:t>•  Skin mechanics: ~448 kPa stress (MoS model)</a:t>
            </a:r>
          </a:p>
          <a:p>
            <a:pPr>
              <a:spcAft>
                <a:spcPts val="800"/>
              </a:spcAft>
            </a:pPr>
            <a:r>
              <a:rPr sz="1600">
                <a:solidFill>
                  <a:srgbClr val="222222"/>
                </a:solidFill>
                <a:latin typeface="Segoe UI"/>
              </a:rPr>
              <a:t>•  Neuron: 20 Hz mean, 282 Hz peak over the touch</a:t>
            </a:r>
          </a:p>
          <a:p>
            <a:pPr lvl="1">
              <a:spcAft>
                <a:spcPts val="800"/>
              </a:spcAft>
            </a:pPr>
            <a:r>
              <a:rPr sz="1400">
                <a:solidFill>
                  <a:srgbClr val="222222"/>
                </a:solidFill>
                <a:latin typeface="Segoe UI"/>
              </a:rPr>
              <a:t>–  Used later to relate RF responses to how the skin was touched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06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320040"/>
          </a:xfrm>
          <a:prstGeom prst="rect">
            <a:avLst/>
          </a:prstGeom>
          <a:noFill/>
        </p:spPr>
        <p:txBody>
          <a:bodyPr wrap="square" anchor="t">
            <a:spAutoFit/>
          </a:bodyPr>
          <a:lstStyle/>
          <a:p>
            <a:pPr algn="l">
              <a:spcBef>
                <a:spcPts val="0"/>
              </a:spcBef>
              <a:spcAft>
                <a:spcPts val="600"/>
              </a:spcAft>
            </a:pPr>
            <a:r>
              <a:rPr sz="1300" b="1" i="0">
                <a:solidFill>
                  <a:srgbClr val="E06A2B"/>
                </a:solidFill>
                <a:latin typeface="Segoe UI Semibold"/>
              </a:rPr>
              <a:t>STAGE 2 · AGGREGATE TOUCHES</a:t>
            </a:r>
          </a:p>
        </p:txBody>
      </p:sp>
      <p:sp>
        <p:nvSpPr>
          <p:cNvPr id="6" name="TextBox 5"/>
          <p:cNvSpPr txBox="1"/>
          <p:nvPr/>
        </p:nvSpPr>
        <p:spPr>
          <a:xfrm>
            <a:off x="457200" y="365760"/>
            <a:ext cx="11247120" cy="640080"/>
          </a:xfrm>
          <a:prstGeom prst="rect">
            <a:avLst/>
          </a:prstGeom>
          <a:noFill/>
        </p:spPr>
        <p:txBody>
          <a:bodyPr wrap="square" anchor="t">
            <a:spAutoFit/>
          </a:bodyPr>
          <a:lstStyle/>
          <a:p>
            <a:pPr algn="l">
              <a:spcBef>
                <a:spcPts val="0"/>
              </a:spcBef>
              <a:spcAft>
                <a:spcPts val="600"/>
              </a:spcAft>
            </a:pPr>
            <a:r>
              <a:rPr sz="2600" b="1" i="0">
                <a:solidFill>
                  <a:srgbClr val="FFFFFF"/>
                </a:solidFill>
                <a:latin typeface="Segoe UI"/>
              </a:rPr>
              <a:t>Averaging into one heatmap</a:t>
            </a:r>
          </a:p>
        </p:txBody>
      </p:sp>
      <p:pic>
        <p:nvPicPr>
          <p:cNvPr id="7" name="Picture 6" descr="04_aggregate.png"/>
          <p:cNvPicPr>
            <a:picLocks noChangeAspect="1"/>
          </p:cNvPicPr>
          <p:nvPr/>
        </p:nvPicPr>
        <p:blipFill>
          <a:blip r:embed="rId2"/>
          <a:stretch>
            <a:fillRect/>
          </a:stretch>
        </p:blipFill>
        <p:spPr>
          <a:xfrm>
            <a:off x="320040" y="1943383"/>
            <a:ext cx="7452360" cy="3474152"/>
          </a:xfrm>
          <a:prstGeom prst="rect">
            <a:avLst/>
          </a:prstGeom>
        </p:spPr>
      </p:pic>
      <p:sp>
        <p:nvSpPr>
          <p:cNvPr id="8" name="TextBox 7"/>
          <p:cNvSpPr txBox="1"/>
          <p:nvPr/>
        </p:nvSpPr>
        <p:spPr>
          <a:xfrm>
            <a:off x="320040" y="6126480"/>
            <a:ext cx="7452360" cy="640080"/>
          </a:xfrm>
          <a:prstGeom prst="rect">
            <a:avLst/>
          </a:prstGeom>
          <a:noFill/>
        </p:spPr>
        <p:txBody>
          <a:bodyPr wrap="square" anchor="t">
            <a:spAutoFit/>
          </a:bodyPr>
          <a:lstStyle/>
          <a:p>
            <a:pPr algn="l">
              <a:spcBef>
                <a:spcPts val="0"/>
              </a:spcBef>
              <a:spcAft>
                <a:spcPts val="600"/>
              </a:spcAft>
            </a:pPr>
            <a:r>
              <a:rPr sz="1200" b="0" i="1">
                <a:solidFill>
                  <a:srgbClr val="666666"/>
                </a:solidFill>
                <a:latin typeface="Segoe UI"/>
              </a:rPr>
              <a:t>ST16-02 over all 755 touches (threshold = 189 touches). Left: per-vertex averages; right: interpolated grid_z with the fitted RF boundary (red) and centroid (+).</a:t>
            </a:r>
          </a:p>
        </p:txBody>
      </p:sp>
      <p:sp>
        <p:nvSpPr>
          <p:cNvPr id="9" name="TextBox 8"/>
          <p:cNvSpPr txBox="1"/>
          <p:nvPr/>
        </p:nvSpPr>
        <p:spPr>
          <a:xfrm>
            <a:off x="8001000" y="1463040"/>
            <a:ext cx="3886200" cy="4937760"/>
          </a:xfrm>
          <a:prstGeom prst="rect">
            <a:avLst/>
          </a:prstGeom>
          <a:noFill/>
        </p:spPr>
        <p:txBody>
          <a:bodyPr wrap="square">
            <a:spAutoFit/>
          </a:bodyPr>
          <a:lstStyle/>
          <a:p>
            <a:pPr>
              <a:spcAft>
                <a:spcPts val="800"/>
              </a:spcAft>
            </a:pPr>
            <a:r>
              <a:rPr sz="1700">
                <a:solidFill>
                  <a:srgbClr val="222222"/>
                </a:solidFill>
                <a:latin typeface="Segoe UI"/>
              </a:rPr>
              <a:t>•  compute_rf_heatmap averages each vertex across all touches</a:t>
            </a:r>
          </a:p>
          <a:p>
            <a:pPr>
              <a:spcAft>
                <a:spcPts val="800"/>
              </a:spcAft>
            </a:pPr>
            <a:r>
              <a:rPr sz="1700">
                <a:solidFill>
                  <a:srgbClr val="222222"/>
                </a:solidFill>
                <a:latin typeface="Segoe UI"/>
              </a:rPr>
              <a:t>•  25% overlap threshold drops fringe vertices (few touches)</a:t>
            </a:r>
          </a:p>
          <a:p>
            <a:pPr>
              <a:spcAft>
                <a:spcPts val="800"/>
              </a:spcAft>
            </a:pPr>
            <a:r>
              <a:rPr sz="1700">
                <a:solidFill>
                  <a:srgbClr val="222222"/>
                </a:solidFill>
                <a:latin typeface="Segoe UI"/>
              </a:rPr>
              <a:t>•  Island cleanup keeps the blob containing the peak</a:t>
            </a:r>
          </a:p>
          <a:p>
            <a:pPr>
              <a:spcAft>
                <a:spcPts val="800"/>
              </a:spcAft>
            </a:pPr>
            <a:r>
              <a:rPr sz="1700">
                <a:solidFill>
                  <a:srgbClr val="222222"/>
                </a:solidFill>
                <a:latin typeface="Segoe UI"/>
              </a:rPr>
              <a:t>•  PCA-align, then interpolate to a smooth 150×150 grid (grid_z)</a:t>
            </a:r>
          </a:p>
          <a:p>
            <a:pPr lvl="1">
              <a:spcAft>
                <a:spcPts val="800"/>
              </a:spcAft>
            </a:pPr>
            <a:r>
              <a:rPr sz="1500">
                <a:solidFill>
                  <a:srgbClr val="222222"/>
                </a:solidFill>
                <a:latin typeface="Segoe UI"/>
              </a:rPr>
              <a:t>–  This grid IS the neuron's response field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06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320040"/>
          </a:xfrm>
          <a:prstGeom prst="rect">
            <a:avLst/>
          </a:prstGeom>
          <a:noFill/>
        </p:spPr>
        <p:txBody>
          <a:bodyPr wrap="square" anchor="t">
            <a:spAutoFit/>
          </a:bodyPr>
          <a:lstStyle/>
          <a:p>
            <a:pPr algn="l">
              <a:spcBef>
                <a:spcPts val="0"/>
              </a:spcBef>
              <a:spcAft>
                <a:spcPts val="600"/>
              </a:spcAft>
            </a:pPr>
            <a:r>
              <a:rPr sz="1300" b="1" i="0">
                <a:solidFill>
                  <a:srgbClr val="E06A2B"/>
                </a:solidFill>
                <a:latin typeface="Segoe UI Semibold"/>
              </a:rPr>
              <a:t>STAGE 3 · DEFINE THE RF</a:t>
            </a:r>
          </a:p>
        </p:txBody>
      </p:sp>
      <p:sp>
        <p:nvSpPr>
          <p:cNvPr id="6" name="TextBox 5"/>
          <p:cNvSpPr txBox="1"/>
          <p:nvPr/>
        </p:nvSpPr>
        <p:spPr>
          <a:xfrm>
            <a:off x="457200" y="365760"/>
            <a:ext cx="11247120" cy="640080"/>
          </a:xfrm>
          <a:prstGeom prst="rect">
            <a:avLst/>
          </a:prstGeom>
          <a:noFill/>
        </p:spPr>
        <p:txBody>
          <a:bodyPr wrap="square" anchor="t">
            <a:spAutoFit/>
          </a:bodyPr>
          <a:lstStyle/>
          <a:p>
            <a:pPr algn="l">
              <a:spcBef>
                <a:spcPts val="0"/>
              </a:spcBef>
              <a:spcAft>
                <a:spcPts val="600"/>
              </a:spcAft>
            </a:pPr>
            <a:r>
              <a:rPr sz="2600" b="1" i="0">
                <a:solidFill>
                  <a:srgbClr val="FFFFFF"/>
                </a:solidFill>
                <a:latin typeface="Segoe UI"/>
              </a:rPr>
              <a:t>Radial “foot of the mountain” boundary</a:t>
            </a:r>
          </a:p>
        </p:txBody>
      </p:sp>
      <p:pic>
        <p:nvPicPr>
          <p:cNvPr id="7" name="Picture 6" descr="05_boundary_steps.png"/>
          <p:cNvPicPr>
            <a:picLocks noChangeAspect="1"/>
          </p:cNvPicPr>
          <p:nvPr/>
        </p:nvPicPr>
        <p:blipFill>
          <a:blip r:embed="rId2"/>
          <a:stretch>
            <a:fillRect/>
          </a:stretch>
        </p:blipFill>
        <p:spPr>
          <a:xfrm>
            <a:off x="320040" y="2127885"/>
            <a:ext cx="7452360" cy="3105150"/>
          </a:xfrm>
          <a:prstGeom prst="rect">
            <a:avLst/>
          </a:prstGeom>
        </p:spPr>
      </p:pic>
      <p:sp>
        <p:nvSpPr>
          <p:cNvPr id="8" name="TextBox 7"/>
          <p:cNvSpPr txBox="1"/>
          <p:nvPr/>
        </p:nvSpPr>
        <p:spPr>
          <a:xfrm>
            <a:off x="320040" y="6126480"/>
            <a:ext cx="7452360" cy="640080"/>
          </a:xfrm>
          <a:prstGeom prst="rect">
            <a:avLst/>
          </a:prstGeom>
          <a:noFill/>
        </p:spPr>
        <p:txBody>
          <a:bodyPr wrap="square" anchor="t">
            <a:spAutoFit/>
          </a:bodyPr>
          <a:lstStyle/>
          <a:p>
            <a:pPr algn="l">
              <a:spcBef>
                <a:spcPts val="0"/>
              </a:spcBef>
              <a:spcAft>
                <a:spcPts val="600"/>
              </a:spcAft>
            </a:pPr>
            <a:r>
              <a:rPr sz="1200" b="0" i="1">
                <a:solidFill>
                  <a:srgbClr val="666666"/>
                </a:solidFill>
                <a:latin typeface="Segoe UI"/>
              </a:rPr>
              <a:t>Left: IFF field with the red radial-foot contour and peak (×). Right: the Hessian λmax field the rays are traced on.</a:t>
            </a:r>
          </a:p>
        </p:txBody>
      </p:sp>
      <p:sp>
        <p:nvSpPr>
          <p:cNvPr id="9" name="TextBox 8"/>
          <p:cNvSpPr txBox="1"/>
          <p:nvPr/>
        </p:nvSpPr>
        <p:spPr>
          <a:xfrm>
            <a:off x="8001000" y="1463040"/>
            <a:ext cx="3886200" cy="4937760"/>
          </a:xfrm>
          <a:prstGeom prst="rect">
            <a:avLst/>
          </a:prstGeom>
          <a:noFill/>
        </p:spPr>
        <p:txBody>
          <a:bodyPr wrap="square">
            <a:spAutoFit/>
          </a:bodyPr>
          <a:lstStyle/>
          <a:p>
            <a:pPr>
              <a:spcAft>
                <a:spcPts val="800"/>
              </a:spcAft>
            </a:pPr>
            <a:r>
              <a:rPr sz="1700">
                <a:solidFill>
                  <a:srgbClr val="222222"/>
                </a:solidFill>
                <a:latin typeface="Segoe UI"/>
              </a:rPr>
              <a:t>•  Treat the heatmap as a hill; the RF edge is where it flattens</a:t>
            </a:r>
          </a:p>
          <a:p>
            <a:pPr>
              <a:spcAft>
                <a:spcPts val="800"/>
              </a:spcAft>
            </a:pPr>
            <a:r>
              <a:rPr sz="1700">
                <a:solidFill>
                  <a:srgbClr val="222222"/>
                </a:solidFill>
                <a:latin typeface="Segoe UI"/>
              </a:rPr>
              <a:t>•  compute_radial_foot_boundary uses the Hessian λmax field</a:t>
            </a:r>
          </a:p>
          <a:p>
            <a:pPr>
              <a:spcAft>
                <a:spcPts val="800"/>
              </a:spcAft>
            </a:pPr>
            <a:r>
              <a:rPr sz="1700">
                <a:solidFill>
                  <a:srgbClr val="222222"/>
                </a:solidFill>
                <a:latin typeface="Segoe UI"/>
              </a:rPr>
              <a:t>•  Rays from the peak stop at the first concave-up point</a:t>
            </a:r>
          </a:p>
          <a:p>
            <a:pPr>
              <a:spcAft>
                <a:spcPts val="800"/>
              </a:spcAft>
            </a:pPr>
            <a:r>
              <a:rPr sz="1700">
                <a:solidFill>
                  <a:srgbClr val="222222"/>
                </a:solidFill>
                <a:latin typeface="Segoe UI"/>
              </a:rPr>
              <a:t>•  Curve is clipped to the actually-touched footprint</a:t>
            </a:r>
          </a:p>
          <a:p>
            <a:pPr lvl="1">
              <a:spcAft>
                <a:spcPts val="800"/>
              </a:spcAft>
            </a:pPr>
            <a:r>
              <a:rPr sz="1500">
                <a:solidFill>
                  <a:srgbClr val="222222"/>
                </a:solidFill>
                <a:latin typeface="Segoe UI"/>
              </a:rPr>
              <a:t>–  Alternatives: gradient-ridge &amp; inflection (Laplacian)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06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320040"/>
          </a:xfrm>
          <a:prstGeom prst="rect">
            <a:avLst/>
          </a:prstGeom>
          <a:noFill/>
        </p:spPr>
        <p:txBody>
          <a:bodyPr wrap="square" anchor="t">
            <a:spAutoFit/>
          </a:bodyPr>
          <a:lstStyle/>
          <a:p>
            <a:pPr algn="l">
              <a:spcBef>
                <a:spcPts val="0"/>
              </a:spcBef>
              <a:spcAft>
                <a:spcPts val="600"/>
              </a:spcAft>
            </a:pPr>
            <a:r>
              <a:rPr sz="1300" b="1" i="0">
                <a:solidFill>
                  <a:srgbClr val="E06A2B"/>
                </a:solidFill>
                <a:latin typeface="Segoe UI Semibold"/>
              </a:rPr>
              <a:t>STAGE 3 · IN DEPTH</a:t>
            </a:r>
          </a:p>
        </p:txBody>
      </p:sp>
      <p:sp>
        <p:nvSpPr>
          <p:cNvPr id="6" name="TextBox 5"/>
          <p:cNvSpPr txBox="1"/>
          <p:nvPr/>
        </p:nvSpPr>
        <p:spPr>
          <a:xfrm>
            <a:off x="457200" y="365760"/>
            <a:ext cx="11247120" cy="640080"/>
          </a:xfrm>
          <a:prstGeom prst="rect">
            <a:avLst/>
          </a:prstGeom>
          <a:noFill/>
        </p:spPr>
        <p:txBody>
          <a:bodyPr wrap="square" anchor="t">
            <a:spAutoFit/>
          </a:bodyPr>
          <a:lstStyle/>
          <a:p>
            <a:pPr algn="l">
              <a:spcBef>
                <a:spcPts val="0"/>
              </a:spcBef>
              <a:spcAft>
                <a:spcPts val="600"/>
              </a:spcAft>
            </a:pPr>
            <a:r>
              <a:rPr sz="2600" b="1" i="0">
                <a:solidFill>
                  <a:srgbClr val="FFFFFF"/>
                </a:solidFill>
                <a:latin typeface="Segoe UI"/>
              </a:rPr>
              <a:t>The Hessian λmax field</a:t>
            </a:r>
          </a:p>
        </p:txBody>
      </p:sp>
      <p:sp>
        <p:nvSpPr>
          <p:cNvPr id="7" name="TextBox 6"/>
          <p:cNvSpPr txBox="1"/>
          <p:nvPr/>
        </p:nvSpPr>
        <p:spPr>
          <a:xfrm>
            <a:off x="457200" y="1234440"/>
            <a:ext cx="11247120" cy="457200"/>
          </a:xfrm>
          <a:prstGeom prst="rect">
            <a:avLst/>
          </a:prstGeom>
          <a:noFill/>
        </p:spPr>
        <p:txBody>
          <a:bodyPr wrap="square" anchor="t">
            <a:spAutoFit/>
          </a:bodyPr>
          <a:lstStyle/>
          <a:p>
            <a:pPr algn="l">
              <a:spcBef>
                <a:spcPts val="0"/>
              </a:spcBef>
              <a:spcAft>
                <a:spcPts val="600"/>
              </a:spcAft>
            </a:pPr>
            <a:r>
              <a:rPr sz="1600" b="1" i="0">
                <a:solidFill>
                  <a:srgbClr val="1F2A44"/>
                </a:solidFill>
                <a:latin typeface="Segoe UI"/>
              </a:rPr>
              <a:t>λmax &lt; 0 over the concave-down dome (blue), &gt; 0 at the concave-up foot (red ring). The RF edge is that sign flip — not a fixed IFF threshold — so it adapts to each neuron's dome shape.</a:t>
            </a:r>
          </a:p>
        </p:txBody>
      </p:sp>
      <p:pic>
        <p:nvPicPr>
          <p:cNvPr id="8" name="Picture 7" descr="05a_hessian_lmax.png"/>
          <p:cNvPicPr>
            <a:picLocks noChangeAspect="1"/>
          </p:cNvPicPr>
          <p:nvPr/>
        </p:nvPicPr>
        <p:blipFill>
          <a:blip r:embed="rId2"/>
          <a:stretch>
            <a:fillRect/>
          </a:stretch>
        </p:blipFill>
        <p:spPr>
          <a:xfrm>
            <a:off x="1527213" y="1783080"/>
            <a:ext cx="9107093" cy="4114800"/>
          </a:xfrm>
          <a:prstGeom prst="rect">
            <a:avLst/>
          </a:prstGeom>
        </p:spPr>
      </p:pic>
      <p:sp>
        <p:nvSpPr>
          <p:cNvPr id="9" name="TextBox 8"/>
          <p:cNvSpPr txBox="1"/>
          <p:nvPr/>
        </p:nvSpPr>
        <p:spPr>
          <a:xfrm>
            <a:off x="457200" y="6035040"/>
            <a:ext cx="11247120" cy="731520"/>
          </a:xfrm>
          <a:prstGeom prst="rect">
            <a:avLst/>
          </a:prstGeom>
          <a:noFill/>
        </p:spPr>
        <p:txBody>
          <a:bodyPr wrap="square" anchor="t">
            <a:spAutoFit/>
          </a:bodyPr>
          <a:lstStyle/>
          <a:p>
            <a:pPr algn="l">
              <a:spcBef>
                <a:spcPts val="0"/>
              </a:spcBef>
              <a:spcAft>
                <a:spcPts val="600"/>
              </a:spcAft>
            </a:pPr>
            <a:r>
              <a:rPr sz="1200" b="0" i="1">
                <a:solidFill>
                  <a:srgbClr val="666666"/>
                </a:solidFill>
                <a:latin typeface="Segoe UI"/>
              </a:rPr>
              <a:t>λmax = larger principal curvature of the Gaussian-smoothed IFF surface (gauss σ=8, Hessian σ=5).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06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320040"/>
          </a:xfrm>
          <a:prstGeom prst="rect">
            <a:avLst/>
          </a:prstGeom>
          <a:noFill/>
        </p:spPr>
        <p:txBody>
          <a:bodyPr wrap="square" anchor="t">
            <a:spAutoFit/>
          </a:bodyPr>
          <a:lstStyle/>
          <a:p>
            <a:pPr algn="l">
              <a:spcBef>
                <a:spcPts val="0"/>
              </a:spcBef>
              <a:spcAft>
                <a:spcPts val="600"/>
              </a:spcAft>
            </a:pPr>
            <a:r>
              <a:rPr sz="1300" b="1" i="0">
                <a:solidFill>
                  <a:srgbClr val="E06A2B"/>
                </a:solidFill>
                <a:latin typeface="Segoe UI Semibold"/>
              </a:rPr>
              <a:t>STAGE 3 · IN DEPTH</a:t>
            </a:r>
          </a:p>
        </p:txBody>
      </p:sp>
      <p:sp>
        <p:nvSpPr>
          <p:cNvPr id="6" name="TextBox 5"/>
          <p:cNvSpPr txBox="1"/>
          <p:nvPr/>
        </p:nvSpPr>
        <p:spPr>
          <a:xfrm>
            <a:off x="457200" y="365760"/>
            <a:ext cx="11247120" cy="640080"/>
          </a:xfrm>
          <a:prstGeom prst="rect">
            <a:avLst/>
          </a:prstGeom>
          <a:noFill/>
        </p:spPr>
        <p:txBody>
          <a:bodyPr wrap="square" anchor="t">
            <a:spAutoFit/>
          </a:bodyPr>
          <a:lstStyle/>
          <a:p>
            <a:pPr algn="l">
              <a:spcBef>
                <a:spcPts val="0"/>
              </a:spcBef>
              <a:spcAft>
                <a:spcPts val="600"/>
              </a:spcAft>
            </a:pPr>
            <a:r>
              <a:rPr sz="2600" b="1" i="0">
                <a:solidFill>
                  <a:srgbClr val="FFFFFF"/>
                </a:solidFill>
                <a:latin typeface="Segoe UI"/>
              </a:rPr>
              <a:t>Contour selection — one ray</a:t>
            </a:r>
          </a:p>
        </p:txBody>
      </p:sp>
      <p:sp>
        <p:nvSpPr>
          <p:cNvPr id="7" name="TextBox 6"/>
          <p:cNvSpPr txBox="1"/>
          <p:nvPr/>
        </p:nvSpPr>
        <p:spPr>
          <a:xfrm>
            <a:off x="457200" y="1234440"/>
            <a:ext cx="11247120" cy="457200"/>
          </a:xfrm>
          <a:prstGeom prst="rect">
            <a:avLst/>
          </a:prstGeom>
          <a:noFill/>
        </p:spPr>
        <p:txBody>
          <a:bodyPr wrap="square" anchor="t">
            <a:spAutoFit/>
          </a:bodyPr>
          <a:lstStyle/>
          <a:p>
            <a:pPr algn="l">
              <a:spcBef>
                <a:spcPts val="0"/>
              </a:spcBef>
              <a:spcAft>
                <a:spcPts val="600"/>
              </a:spcAft>
            </a:pPr>
            <a:r>
              <a:rPr sz="1600" b="1" i="0">
                <a:solidFill>
                  <a:srgbClr val="1F2A44"/>
                </a:solidFill>
                <a:latin typeface="Segoe UI"/>
              </a:rPr>
              <a:t>Along each ray λmax rises out of the dome (blue), crosses zero, and the first positive plateau centre is the foot radius. Each ray is snapped back to the last painted cell (dotted) so the foot never lands on non-contacted skin; the 360 radii are Savitzky-Golay smoothed.</a:t>
            </a:r>
          </a:p>
        </p:txBody>
      </p:sp>
      <p:pic>
        <p:nvPicPr>
          <p:cNvPr id="8" name="Picture 7" descr="05b_ray_profile.png"/>
          <p:cNvPicPr>
            <a:picLocks noChangeAspect="1"/>
          </p:cNvPicPr>
          <p:nvPr/>
        </p:nvPicPr>
        <p:blipFill>
          <a:blip r:embed="rId2"/>
          <a:stretch>
            <a:fillRect/>
          </a:stretch>
        </p:blipFill>
        <p:spPr>
          <a:xfrm>
            <a:off x="2286838" y="1783080"/>
            <a:ext cx="7587842" cy="4114800"/>
          </a:xfrm>
          <a:prstGeom prst="rect">
            <a:avLst/>
          </a:prstGeom>
        </p:spPr>
      </p:pic>
      <p:sp>
        <p:nvSpPr>
          <p:cNvPr id="9" name="TextBox 8"/>
          <p:cNvSpPr txBox="1"/>
          <p:nvPr/>
        </p:nvSpPr>
        <p:spPr>
          <a:xfrm>
            <a:off x="457200" y="6035040"/>
            <a:ext cx="11247120" cy="731520"/>
          </a:xfrm>
          <a:prstGeom prst="rect">
            <a:avLst/>
          </a:prstGeom>
          <a:noFill/>
        </p:spPr>
        <p:txBody>
          <a:bodyPr wrap="square" anchor="t">
            <a:spAutoFit/>
          </a:bodyPr>
          <a:lstStyle/>
          <a:p>
            <a:pPr algn="l">
              <a:spcBef>
                <a:spcPts val="0"/>
              </a:spcBef>
              <a:spcAft>
                <a:spcPts val="600"/>
              </a:spcAft>
            </a:pPr>
            <a:r>
              <a:rPr sz="1200" b="0" i="1">
                <a:solidFill>
                  <a:srgbClr val="666666"/>
                </a:solidFill>
                <a:latin typeface="Segoe UI"/>
              </a:rPr>
              <a:t>360 rays from the peak; per ray, find_peaks locates the first positive λmax plateau.</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06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320040"/>
          </a:xfrm>
          <a:prstGeom prst="rect">
            <a:avLst/>
          </a:prstGeom>
          <a:noFill/>
        </p:spPr>
        <p:txBody>
          <a:bodyPr wrap="square" anchor="t">
            <a:spAutoFit/>
          </a:bodyPr>
          <a:lstStyle/>
          <a:p>
            <a:pPr algn="l">
              <a:spcBef>
                <a:spcPts val="0"/>
              </a:spcBef>
              <a:spcAft>
                <a:spcPts val="600"/>
              </a:spcAft>
            </a:pPr>
            <a:r>
              <a:rPr sz="1300" b="1" i="0">
                <a:solidFill>
                  <a:srgbClr val="E06A2B"/>
                </a:solidFill>
                <a:latin typeface="Segoe UI Semibold"/>
              </a:rPr>
              <a:t>STAGE 3 · IN DEPTH</a:t>
            </a:r>
          </a:p>
        </p:txBody>
      </p:sp>
      <p:sp>
        <p:nvSpPr>
          <p:cNvPr id="6" name="TextBox 5"/>
          <p:cNvSpPr txBox="1"/>
          <p:nvPr/>
        </p:nvSpPr>
        <p:spPr>
          <a:xfrm>
            <a:off x="457200" y="365760"/>
            <a:ext cx="11247120" cy="640080"/>
          </a:xfrm>
          <a:prstGeom prst="rect">
            <a:avLst/>
          </a:prstGeom>
          <a:noFill/>
        </p:spPr>
        <p:txBody>
          <a:bodyPr wrap="square" anchor="t">
            <a:spAutoFit/>
          </a:bodyPr>
          <a:lstStyle/>
          <a:p>
            <a:pPr algn="l">
              <a:spcBef>
                <a:spcPts val="0"/>
              </a:spcBef>
              <a:spcAft>
                <a:spcPts val="600"/>
              </a:spcAft>
            </a:pPr>
            <a:r>
              <a:rPr sz="2600" b="1" i="0">
                <a:solidFill>
                  <a:srgbClr val="FFFFFF"/>
                </a:solidFill>
                <a:latin typeface="Segoe UI"/>
              </a:rPr>
              <a:t>Contour selection — footprint envelope</a:t>
            </a:r>
          </a:p>
        </p:txBody>
      </p:sp>
      <p:sp>
        <p:nvSpPr>
          <p:cNvPr id="7" name="TextBox 6"/>
          <p:cNvSpPr txBox="1"/>
          <p:nvPr/>
        </p:nvSpPr>
        <p:spPr>
          <a:xfrm>
            <a:off x="457200" y="1234440"/>
            <a:ext cx="11247120" cy="457200"/>
          </a:xfrm>
          <a:prstGeom prst="rect">
            <a:avLst/>
          </a:prstGeom>
          <a:noFill/>
        </p:spPr>
        <p:txBody>
          <a:bodyPr wrap="square" anchor="t">
            <a:spAutoFit/>
          </a:bodyPr>
          <a:lstStyle/>
          <a:p>
            <a:pPr algn="l">
              <a:spcBef>
                <a:spcPts val="0"/>
              </a:spcBef>
              <a:spcAft>
                <a:spcPts val="600"/>
              </a:spcAft>
            </a:pPr>
            <a:r>
              <a:rPr sz="1600" b="1" i="0">
                <a:solidFill>
                  <a:srgbClr val="1F2A44"/>
                </a:solidFill>
                <a:latin typeface="Segoe UI"/>
              </a:rPr>
              <a:t>One-radius-per-angle chords bulge into non-painted cells where the footprint is concave (left, orange). Pass 2 intersects with grid_z &gt; 0, keeps the peak's connected component, and re-traces it (right, green) — fail-fast, no fallback ring.</a:t>
            </a:r>
          </a:p>
        </p:txBody>
      </p:sp>
      <p:pic>
        <p:nvPicPr>
          <p:cNvPr id="8" name="Picture 7" descr="05c_envelope.png"/>
          <p:cNvPicPr>
            <a:picLocks noChangeAspect="1"/>
          </p:cNvPicPr>
          <p:nvPr/>
        </p:nvPicPr>
        <p:blipFill>
          <a:blip r:embed="rId2"/>
          <a:stretch>
            <a:fillRect/>
          </a:stretch>
        </p:blipFill>
        <p:spPr>
          <a:xfrm>
            <a:off x="1961002" y="1783080"/>
            <a:ext cx="8239515" cy="4114800"/>
          </a:xfrm>
          <a:prstGeom prst="rect">
            <a:avLst/>
          </a:prstGeom>
        </p:spPr>
      </p:pic>
      <p:sp>
        <p:nvSpPr>
          <p:cNvPr id="9" name="TextBox 8"/>
          <p:cNvSpPr txBox="1"/>
          <p:nvPr/>
        </p:nvSpPr>
        <p:spPr>
          <a:xfrm>
            <a:off x="457200" y="6035040"/>
            <a:ext cx="11247120" cy="731520"/>
          </a:xfrm>
          <a:prstGeom prst="rect">
            <a:avLst/>
          </a:prstGeom>
          <a:noFill/>
        </p:spPr>
        <p:txBody>
          <a:bodyPr wrap="square" anchor="t">
            <a:spAutoFit/>
          </a:bodyPr>
          <a:lstStyle/>
          <a:p>
            <a:pPr algn="l">
              <a:spcBef>
                <a:spcPts val="0"/>
              </a:spcBef>
              <a:spcAft>
                <a:spcPts val="600"/>
              </a:spcAft>
            </a:pPr>
            <a:r>
              <a:rPr sz="1200" b="0" i="1">
                <a:solidFill>
                  <a:srgbClr val="666666"/>
                </a:solidFill>
                <a:latin typeface="Segoe UI"/>
              </a:rPr>
              <a:t>The star-convex radial curve is clipped to the painted footprint (grid_z &gt; 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06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320040"/>
          </a:xfrm>
          <a:prstGeom prst="rect">
            <a:avLst/>
          </a:prstGeom>
          <a:noFill/>
        </p:spPr>
        <p:txBody>
          <a:bodyPr wrap="square" anchor="t">
            <a:spAutoFit/>
          </a:bodyPr>
          <a:lstStyle/>
          <a:p>
            <a:pPr algn="l">
              <a:spcBef>
                <a:spcPts val="0"/>
              </a:spcBef>
              <a:spcAft>
                <a:spcPts val="600"/>
              </a:spcAft>
            </a:pPr>
            <a:r>
              <a:rPr sz="1300" b="1" i="0">
                <a:solidFill>
                  <a:srgbClr val="E06A2B"/>
                </a:solidFill>
                <a:latin typeface="Segoe UI Semibold"/>
              </a:rPr>
              <a:t>STAGE 3 · DEFINE THE RF</a:t>
            </a:r>
          </a:p>
        </p:txBody>
      </p:sp>
      <p:sp>
        <p:nvSpPr>
          <p:cNvPr id="6" name="TextBox 5"/>
          <p:cNvSpPr txBox="1"/>
          <p:nvPr/>
        </p:nvSpPr>
        <p:spPr>
          <a:xfrm>
            <a:off x="457200" y="365760"/>
            <a:ext cx="11247120" cy="640080"/>
          </a:xfrm>
          <a:prstGeom prst="rect">
            <a:avLst/>
          </a:prstGeom>
          <a:noFill/>
        </p:spPr>
        <p:txBody>
          <a:bodyPr wrap="square" anchor="t">
            <a:spAutoFit/>
          </a:bodyPr>
          <a:lstStyle/>
          <a:p>
            <a:pPr algn="l">
              <a:spcBef>
                <a:spcPts val="0"/>
              </a:spcBef>
              <a:spcAft>
                <a:spcPts val="600"/>
              </a:spcAft>
            </a:pPr>
            <a:r>
              <a:rPr sz="2600" b="1" i="0">
                <a:solidFill>
                  <a:srgbClr val="FFFFFF"/>
                </a:solidFill>
                <a:latin typeface="Segoe UI"/>
              </a:rPr>
              <a:t>The receptive field &amp; its metrics</a:t>
            </a:r>
          </a:p>
        </p:txBody>
      </p:sp>
      <p:pic>
        <p:nvPicPr>
          <p:cNvPr id="7" name="Picture 6" descr="06_rf_outline.png"/>
          <p:cNvPicPr>
            <a:picLocks noChangeAspect="1"/>
          </p:cNvPicPr>
          <p:nvPr/>
        </p:nvPicPr>
        <p:blipFill>
          <a:blip r:embed="rId2"/>
          <a:stretch>
            <a:fillRect/>
          </a:stretch>
        </p:blipFill>
        <p:spPr>
          <a:xfrm>
            <a:off x="1878698" y="1325880"/>
            <a:ext cx="4335043" cy="4709160"/>
          </a:xfrm>
          <a:prstGeom prst="rect">
            <a:avLst/>
          </a:prstGeom>
        </p:spPr>
      </p:pic>
      <p:sp>
        <p:nvSpPr>
          <p:cNvPr id="8" name="TextBox 7"/>
          <p:cNvSpPr txBox="1"/>
          <p:nvPr/>
        </p:nvSpPr>
        <p:spPr>
          <a:xfrm>
            <a:off x="320040" y="6126480"/>
            <a:ext cx="7452360" cy="640080"/>
          </a:xfrm>
          <a:prstGeom prst="rect">
            <a:avLst/>
          </a:prstGeom>
          <a:noFill/>
        </p:spPr>
        <p:txBody>
          <a:bodyPr wrap="square" anchor="t">
            <a:spAutoFit/>
          </a:bodyPr>
          <a:lstStyle/>
          <a:p>
            <a:pPr algn="l">
              <a:spcBef>
                <a:spcPts val="0"/>
              </a:spcBef>
              <a:spcAft>
                <a:spcPts val="600"/>
              </a:spcAft>
            </a:pPr>
            <a:r>
              <a:rPr sz="1200" b="0" i="1">
                <a:solidFill>
                  <a:srgbClr val="666666"/>
                </a:solidFill>
                <a:latin typeface="Segoe UI"/>
              </a:rPr>
              <a:t>The final receptive field for ST16-02: red outline on the interpolated heatmap (cropped, on the skin texture), iso-IFF contour lines inside.</a:t>
            </a:r>
          </a:p>
        </p:txBody>
      </p:sp>
      <p:sp>
        <p:nvSpPr>
          <p:cNvPr id="9" name="TextBox 8"/>
          <p:cNvSpPr txBox="1"/>
          <p:nvPr/>
        </p:nvSpPr>
        <p:spPr>
          <a:xfrm>
            <a:off x="8001000" y="1463040"/>
            <a:ext cx="3886200" cy="4937760"/>
          </a:xfrm>
          <a:prstGeom prst="rect">
            <a:avLst/>
          </a:prstGeom>
          <a:noFill/>
        </p:spPr>
        <p:txBody>
          <a:bodyPr wrap="square">
            <a:spAutoFit/>
          </a:bodyPr>
          <a:lstStyle/>
          <a:p>
            <a:pPr>
              <a:spcAft>
                <a:spcPts val="800"/>
              </a:spcAft>
            </a:pPr>
            <a:r>
              <a:rPr sz="1700">
                <a:solidFill>
                  <a:srgbClr val="222222"/>
                </a:solidFill>
                <a:latin typeface="Segoe UI"/>
              </a:rPr>
              <a:t>•  From the closed contour the pipeline derives:</a:t>
            </a:r>
          </a:p>
          <a:p>
            <a:pPr lvl="1">
              <a:spcAft>
                <a:spcPts val="800"/>
              </a:spcAft>
            </a:pPr>
            <a:r>
              <a:rPr sz="1500">
                <a:solidFill>
                  <a:srgbClr val="222222"/>
                </a:solidFill>
                <a:latin typeface="Segoe UI"/>
              </a:rPr>
              <a:t>–  Area in real mm² (mapped back via uv_points_to_xyz)</a:t>
            </a:r>
          </a:p>
          <a:p>
            <a:pPr lvl="1">
              <a:spcAft>
                <a:spcPts val="800"/>
              </a:spcAft>
            </a:pPr>
            <a:r>
              <a:rPr sz="1500">
                <a:solidFill>
                  <a:srgbClr val="222222"/>
                </a:solidFill>
                <a:latin typeface="Segoe UI"/>
              </a:rPr>
              <a:t>–  Perimeter, circularity, centroid, peak</a:t>
            </a:r>
          </a:p>
          <a:p>
            <a:pPr lvl="1">
              <a:spcAft>
                <a:spcPts val="800"/>
              </a:spcAft>
            </a:pPr>
            <a:r>
              <a:rPr sz="1500">
                <a:solidFill>
                  <a:srgbClr val="222222"/>
                </a:solidFill>
                <a:latin typeface="Segoe UI"/>
              </a:rPr>
              <a:t>–  PCA ellipse: major/minor axis + orientation</a:t>
            </a:r>
          </a:p>
          <a:p>
            <a:pPr>
              <a:spcAft>
                <a:spcPts val="800"/>
              </a:spcAft>
            </a:pPr>
            <a:r>
              <a:rPr sz="1700">
                <a:solidFill>
                  <a:srgbClr val="222222"/>
                </a:solidFill>
                <a:latin typeface="Segoe UI"/>
              </a:rPr>
              <a:t>•  Saved to &lt;session&gt;_population_response_fields.npz</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06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320040"/>
          </a:xfrm>
          <a:prstGeom prst="rect">
            <a:avLst/>
          </a:prstGeom>
          <a:noFill/>
        </p:spPr>
        <p:txBody>
          <a:bodyPr wrap="square" anchor="t">
            <a:spAutoFit/>
          </a:bodyPr>
          <a:lstStyle/>
          <a:p>
            <a:pPr algn="l">
              <a:spcBef>
                <a:spcPts val="0"/>
              </a:spcBef>
              <a:spcAft>
                <a:spcPts val="600"/>
              </a:spcAft>
            </a:pPr>
            <a:r>
              <a:rPr sz="1300" b="1" i="0">
                <a:solidFill>
                  <a:srgbClr val="E06A2B"/>
                </a:solidFill>
                <a:latin typeface="Segoe UI Semibold"/>
              </a:rPr>
              <a:t>STAGE 4 · PROFILES (DOWNSTREAM)</a:t>
            </a:r>
          </a:p>
        </p:txBody>
      </p:sp>
      <p:sp>
        <p:nvSpPr>
          <p:cNvPr id="6" name="TextBox 5"/>
          <p:cNvSpPr txBox="1"/>
          <p:nvPr/>
        </p:nvSpPr>
        <p:spPr>
          <a:xfrm>
            <a:off x="457200" y="365760"/>
            <a:ext cx="11247120" cy="640080"/>
          </a:xfrm>
          <a:prstGeom prst="rect">
            <a:avLst/>
          </a:prstGeom>
          <a:noFill/>
        </p:spPr>
        <p:txBody>
          <a:bodyPr wrap="square" anchor="t">
            <a:spAutoFit/>
          </a:bodyPr>
          <a:lstStyle/>
          <a:p>
            <a:pPr algn="l">
              <a:spcBef>
                <a:spcPts val="0"/>
              </a:spcBef>
              <a:spcAft>
                <a:spcPts val="600"/>
              </a:spcAft>
            </a:pPr>
            <a:r>
              <a:rPr sz="2600" b="1" i="0">
                <a:solidFill>
                  <a:srgbClr val="FFFFFF"/>
                </a:solidFill>
                <a:latin typeface="Segoe UI"/>
              </a:rPr>
              <a:t>Cross-section through the RF</a:t>
            </a:r>
          </a:p>
        </p:txBody>
      </p:sp>
      <p:pic>
        <p:nvPicPr>
          <p:cNvPr id="7" name="Picture 6" descr="07_profile_1d.png"/>
          <p:cNvPicPr>
            <a:picLocks noChangeAspect="1"/>
          </p:cNvPicPr>
          <p:nvPr/>
        </p:nvPicPr>
        <p:blipFill>
          <a:blip r:embed="rId2"/>
          <a:stretch>
            <a:fillRect/>
          </a:stretch>
        </p:blipFill>
        <p:spPr>
          <a:xfrm>
            <a:off x="320040" y="1574826"/>
            <a:ext cx="7452360" cy="4211266"/>
          </a:xfrm>
          <a:prstGeom prst="rect">
            <a:avLst/>
          </a:prstGeom>
        </p:spPr>
      </p:pic>
      <p:sp>
        <p:nvSpPr>
          <p:cNvPr id="8" name="TextBox 7"/>
          <p:cNvSpPr txBox="1"/>
          <p:nvPr/>
        </p:nvSpPr>
        <p:spPr>
          <a:xfrm>
            <a:off x="320040" y="6126480"/>
            <a:ext cx="7452360" cy="640080"/>
          </a:xfrm>
          <a:prstGeom prst="rect">
            <a:avLst/>
          </a:prstGeom>
          <a:noFill/>
        </p:spPr>
        <p:txBody>
          <a:bodyPr wrap="square" anchor="t">
            <a:spAutoFit/>
          </a:bodyPr>
          <a:lstStyle/>
          <a:p>
            <a:pPr algn="l">
              <a:spcBef>
                <a:spcPts val="0"/>
              </a:spcBef>
              <a:spcAft>
                <a:spcPts val="600"/>
              </a:spcAft>
            </a:pPr>
            <a:r>
              <a:rPr sz="1200" b="0" i="1">
                <a:solidFill>
                  <a:srgbClr val="666666"/>
                </a:solidFill>
                <a:latin typeface="Segoe UI"/>
              </a:rPr>
              <a:t>Gradient magnitude |∇IFF| along the U axis through the centroid.</a:t>
            </a:r>
          </a:p>
        </p:txBody>
      </p:sp>
      <p:sp>
        <p:nvSpPr>
          <p:cNvPr id="9" name="TextBox 8"/>
          <p:cNvSpPr txBox="1"/>
          <p:nvPr/>
        </p:nvSpPr>
        <p:spPr>
          <a:xfrm>
            <a:off x="8001000" y="1463040"/>
            <a:ext cx="3886200" cy="4937760"/>
          </a:xfrm>
          <a:prstGeom prst="rect">
            <a:avLst/>
          </a:prstGeom>
          <a:noFill/>
        </p:spPr>
        <p:txBody>
          <a:bodyPr wrap="square">
            <a:spAutoFit/>
          </a:bodyPr>
          <a:lstStyle/>
          <a:p>
            <a:pPr>
              <a:spcAft>
                <a:spcPts val="800"/>
              </a:spcAft>
            </a:pPr>
            <a:r>
              <a:rPr sz="1700">
                <a:solidFill>
                  <a:srgbClr val="222222"/>
                </a:solidFill>
                <a:latin typeface="Segoe UI"/>
              </a:rPr>
              <a:t>•  run_rf_profile_extraction slices through the centroid</a:t>
            </a:r>
          </a:p>
          <a:p>
            <a:pPr>
              <a:spcAft>
                <a:spcPts val="800"/>
              </a:spcAft>
            </a:pPr>
            <a:r>
              <a:rPr sz="1700">
                <a:solidFill>
                  <a:srgbClr val="222222"/>
                </a:solidFill>
                <a:latin typeface="Segoe UI"/>
              </a:rPr>
              <a:t>•  Characterises RF shape and edge sharpness</a:t>
            </a:r>
          </a:p>
          <a:p>
            <a:pPr>
              <a:spcAft>
                <a:spcPts val="800"/>
              </a:spcAft>
            </a:pPr>
            <a:r>
              <a:rPr sz="1700">
                <a:solidFill>
                  <a:srgbClr val="222222"/>
                </a:solidFill>
                <a:latin typeface="Segoe UI"/>
              </a:rPr>
              <a:t>•  Two gradient peaks = the RF's sharp edges</a:t>
            </a:r>
          </a:p>
          <a:p>
            <a:pPr lvl="1">
              <a:spcAft>
                <a:spcPts val="800"/>
              </a:spcAft>
            </a:pPr>
            <a:r>
              <a:rPr sz="1500">
                <a:solidFill>
                  <a:srgbClr val="222222"/>
                </a:solidFill>
                <a:latin typeface="Segoe UI"/>
              </a:rPr>
              <a:t>–  Green diamonds = where the boundary crosses the axis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06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320040"/>
          </a:xfrm>
          <a:prstGeom prst="rect">
            <a:avLst/>
          </a:prstGeom>
          <a:noFill/>
        </p:spPr>
        <p:txBody>
          <a:bodyPr wrap="square" anchor="t">
            <a:spAutoFit/>
          </a:bodyPr>
          <a:lstStyle/>
          <a:p>
            <a:pPr algn="l">
              <a:spcBef>
                <a:spcPts val="0"/>
              </a:spcBef>
              <a:spcAft>
                <a:spcPts val="600"/>
              </a:spcAft>
            </a:pPr>
            <a:r>
              <a:rPr sz="1300" b="1" i="0">
                <a:solidFill>
                  <a:srgbClr val="E06A2B"/>
                </a:solidFill>
                <a:latin typeface="Segoe UI Semibold"/>
              </a:rPr>
              <a:t>PIPELINE</a:t>
            </a:r>
          </a:p>
        </p:txBody>
      </p:sp>
      <p:sp>
        <p:nvSpPr>
          <p:cNvPr id="6" name="TextBox 5"/>
          <p:cNvSpPr txBox="1"/>
          <p:nvPr/>
        </p:nvSpPr>
        <p:spPr>
          <a:xfrm>
            <a:off x="457200" y="365760"/>
            <a:ext cx="11247120" cy="640080"/>
          </a:xfrm>
          <a:prstGeom prst="rect">
            <a:avLst/>
          </a:prstGeom>
          <a:noFill/>
        </p:spPr>
        <p:txBody>
          <a:bodyPr wrap="square" anchor="t">
            <a:spAutoFit/>
          </a:bodyPr>
          <a:lstStyle/>
          <a:p>
            <a:pPr algn="l">
              <a:spcBef>
                <a:spcPts val="0"/>
              </a:spcBef>
              <a:spcAft>
                <a:spcPts val="600"/>
              </a:spcAft>
            </a:pPr>
            <a:r>
              <a:rPr sz="2600" b="1" i="0">
                <a:solidFill>
                  <a:srgbClr val="FFFFFF"/>
                </a:solidFill>
                <a:latin typeface="Segoe UI"/>
              </a:rPr>
              <a:t>Where this runs</a:t>
            </a:r>
          </a:p>
        </p:txBody>
      </p:sp>
      <p:sp>
        <p:nvSpPr>
          <p:cNvPr id="7" name="TextBox 6"/>
          <p:cNvSpPr txBox="1"/>
          <p:nvPr/>
        </p:nvSpPr>
        <p:spPr>
          <a:xfrm>
            <a:off x="457200" y="1325880"/>
            <a:ext cx="11247120" cy="548640"/>
          </a:xfrm>
          <a:prstGeom prst="rect">
            <a:avLst/>
          </a:prstGeom>
          <a:noFill/>
        </p:spPr>
        <p:txBody>
          <a:bodyPr wrap="square" anchor="t">
            <a:spAutoFit/>
          </a:bodyPr>
          <a:lstStyle/>
          <a:p>
            <a:pPr algn="l">
              <a:spcBef>
                <a:spcPts val="0"/>
              </a:spcBef>
              <a:spcAft>
                <a:spcPts val="600"/>
              </a:spcAft>
            </a:pPr>
            <a:r>
              <a:rPr sz="1700" b="0" i="0">
                <a:solidFill>
                  <a:srgbClr val="222222"/>
                </a:solidFill>
                <a:latin typeface="Segoe UI"/>
              </a:rPr>
              <a:t>DAG tasks in configs/analyse_workflow_processing_dag.yaml, chained by dependency:</a:t>
            </a:r>
          </a:p>
        </p:txBody>
      </p:sp>
      <p:sp>
        <p:nvSpPr>
          <p:cNvPr id="8" name="Rectangle 7"/>
          <p:cNvSpPr/>
          <p:nvPr/>
        </p:nvSpPr>
        <p:spPr>
          <a:xfrm>
            <a:off x="731520" y="1965960"/>
            <a:ext cx="4846320" cy="658368"/>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65960"/>
            <a:ext cx="4663440" cy="658368"/>
          </a:xfrm>
          <a:prstGeom prst="rect">
            <a:avLst/>
          </a:prstGeom>
          <a:noFill/>
        </p:spPr>
        <p:txBody>
          <a:bodyPr wrap="square" anchor="ctr">
            <a:spAutoFit/>
          </a:bodyPr>
          <a:lstStyle/>
          <a:p>
            <a:pPr algn="l">
              <a:spcBef>
                <a:spcPts val="0"/>
              </a:spcBef>
              <a:spcAft>
                <a:spcPts val="600"/>
              </a:spcAft>
            </a:pPr>
            <a:r>
              <a:rPr sz="1500" b="1" i="0">
                <a:solidFill>
                  <a:srgbClr val="FFFFFF"/>
                </a:solidFill>
                <a:latin typeface="Consolas"/>
              </a:rPr>
              <a:t>touch_prepare_sessions  +  touch_compute_series</a:t>
            </a:r>
          </a:p>
        </p:txBody>
      </p:sp>
      <p:sp>
        <p:nvSpPr>
          <p:cNvPr id="10" name="TextBox 9"/>
          <p:cNvSpPr txBox="1"/>
          <p:nvPr/>
        </p:nvSpPr>
        <p:spPr>
          <a:xfrm>
            <a:off x="5806440" y="1965960"/>
            <a:ext cx="5852160" cy="658368"/>
          </a:xfrm>
          <a:prstGeom prst="rect">
            <a:avLst/>
          </a:prstGeom>
          <a:noFill/>
        </p:spPr>
        <p:txBody>
          <a:bodyPr wrap="square" anchor="ctr">
            <a:spAutoFit/>
          </a:bodyPr>
          <a:lstStyle/>
          <a:p>
            <a:pPr algn="l">
              <a:spcBef>
                <a:spcPts val="0"/>
              </a:spcBef>
              <a:spcAft>
                <a:spcPts val="600"/>
              </a:spcAft>
            </a:pPr>
            <a:r>
              <a:rPr sz="1500" b="0" i="0">
                <a:solidFill>
                  <a:srgbClr val="222222"/>
                </a:solidFill>
                <a:latin typeface="Segoe UI"/>
              </a:rPr>
              <a:t>clean CSVs, kinematics</a:t>
            </a:r>
          </a:p>
        </p:txBody>
      </p:sp>
      <p:sp>
        <p:nvSpPr>
          <p:cNvPr id="11" name="TextBox 10"/>
          <p:cNvSpPr txBox="1"/>
          <p:nvPr/>
        </p:nvSpPr>
        <p:spPr>
          <a:xfrm>
            <a:off x="2834640" y="2587752"/>
            <a:ext cx="914400" cy="228600"/>
          </a:xfrm>
          <a:prstGeom prst="rect">
            <a:avLst/>
          </a:prstGeom>
          <a:noFill/>
        </p:spPr>
        <p:txBody>
          <a:bodyPr wrap="square" anchor="t">
            <a:spAutoFit/>
          </a:bodyPr>
          <a:lstStyle/>
          <a:p>
            <a:pPr algn="ctr">
              <a:spcBef>
                <a:spcPts val="0"/>
              </a:spcBef>
              <a:spcAft>
                <a:spcPts val="600"/>
              </a:spcAft>
            </a:pPr>
            <a:r>
              <a:rPr sz="1200" b="0" i="0">
                <a:solidFill>
                  <a:srgbClr val="E06A2B"/>
                </a:solidFill>
                <a:latin typeface="Segoe UI"/>
              </a:rPr>
              <a:t>▼</a:t>
            </a:r>
          </a:p>
        </p:txBody>
      </p:sp>
      <p:sp>
        <p:nvSpPr>
          <p:cNvPr id="12" name="Rectangle 11"/>
          <p:cNvSpPr/>
          <p:nvPr/>
        </p:nvSpPr>
        <p:spPr>
          <a:xfrm>
            <a:off x="731520" y="2788920"/>
            <a:ext cx="4846320" cy="658368"/>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788920"/>
            <a:ext cx="4663440" cy="658368"/>
          </a:xfrm>
          <a:prstGeom prst="rect">
            <a:avLst/>
          </a:prstGeom>
          <a:noFill/>
        </p:spPr>
        <p:txBody>
          <a:bodyPr wrap="square" anchor="ctr">
            <a:spAutoFit/>
          </a:bodyPr>
          <a:lstStyle/>
          <a:p>
            <a:pPr algn="l">
              <a:spcBef>
                <a:spcPts val="0"/>
              </a:spcBef>
              <a:spcAft>
                <a:spcPts val="600"/>
              </a:spcAft>
            </a:pPr>
            <a:r>
              <a:rPr sz="1500" b="1" i="0">
                <a:solidFill>
                  <a:srgbClr val="FFFFFF"/>
                </a:solidFill>
                <a:latin typeface="Consolas"/>
              </a:rPr>
              <a:t>spatial_map_single_touch</a:t>
            </a:r>
          </a:p>
        </p:txBody>
      </p:sp>
      <p:sp>
        <p:nvSpPr>
          <p:cNvPr id="14" name="TextBox 13"/>
          <p:cNvSpPr txBox="1"/>
          <p:nvPr/>
        </p:nvSpPr>
        <p:spPr>
          <a:xfrm>
            <a:off x="5806440" y="2788920"/>
            <a:ext cx="5852160" cy="658368"/>
          </a:xfrm>
          <a:prstGeom prst="rect">
            <a:avLst/>
          </a:prstGeom>
          <a:noFill/>
        </p:spPr>
        <p:txBody>
          <a:bodyPr wrap="square" anchor="ctr">
            <a:spAutoFit/>
          </a:bodyPr>
          <a:lstStyle/>
          <a:p>
            <a:pPr algn="l">
              <a:spcBef>
                <a:spcPts val="0"/>
              </a:spcBef>
              <a:spcAft>
                <a:spcPts val="600"/>
              </a:spcAft>
            </a:pPr>
            <a:r>
              <a:rPr sz="1500" b="0" i="0">
                <a:solidFill>
                  <a:srgbClr val="222222"/>
                </a:solidFill>
                <a:latin typeface="Segoe UI"/>
              </a:rPr>
              <a:t>Stage 1 — single_touch_rf_maps_*.npz</a:t>
            </a:r>
          </a:p>
        </p:txBody>
      </p:sp>
      <p:sp>
        <p:nvSpPr>
          <p:cNvPr id="15" name="TextBox 14"/>
          <p:cNvSpPr txBox="1"/>
          <p:nvPr/>
        </p:nvSpPr>
        <p:spPr>
          <a:xfrm>
            <a:off x="2834640" y="3410712"/>
            <a:ext cx="914400" cy="228600"/>
          </a:xfrm>
          <a:prstGeom prst="rect">
            <a:avLst/>
          </a:prstGeom>
          <a:noFill/>
        </p:spPr>
        <p:txBody>
          <a:bodyPr wrap="square" anchor="t">
            <a:spAutoFit/>
          </a:bodyPr>
          <a:lstStyle/>
          <a:p>
            <a:pPr algn="ctr">
              <a:spcBef>
                <a:spcPts val="0"/>
              </a:spcBef>
              <a:spcAft>
                <a:spcPts val="600"/>
              </a:spcAft>
            </a:pPr>
            <a:r>
              <a:rPr sz="1200" b="0" i="0">
                <a:solidFill>
                  <a:srgbClr val="E06A2B"/>
                </a:solidFill>
                <a:latin typeface="Segoe UI"/>
              </a:rPr>
              <a:t>▼</a:t>
            </a:r>
          </a:p>
        </p:txBody>
      </p:sp>
      <p:sp>
        <p:nvSpPr>
          <p:cNvPr id="16" name="Rectangle 15"/>
          <p:cNvSpPr/>
          <p:nvPr/>
        </p:nvSpPr>
        <p:spPr>
          <a:xfrm>
            <a:off x="731520" y="3611880"/>
            <a:ext cx="4846320" cy="658368"/>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611880"/>
            <a:ext cx="4663440" cy="658368"/>
          </a:xfrm>
          <a:prstGeom prst="rect">
            <a:avLst/>
          </a:prstGeom>
          <a:noFill/>
        </p:spPr>
        <p:txBody>
          <a:bodyPr wrap="square" anchor="ctr">
            <a:spAutoFit/>
          </a:bodyPr>
          <a:lstStyle/>
          <a:p>
            <a:pPr algn="l">
              <a:spcBef>
                <a:spcPts val="0"/>
              </a:spcBef>
              <a:spcAft>
                <a:spcPts val="600"/>
              </a:spcAft>
            </a:pPr>
            <a:r>
              <a:rPr sz="1500" b="1" i="0">
                <a:solidFill>
                  <a:srgbClr val="FFFFFF"/>
                </a:solidFill>
                <a:latin typeface="Consolas"/>
              </a:rPr>
              <a:t>spatial_precompute_slim_uv</a:t>
            </a:r>
          </a:p>
        </p:txBody>
      </p:sp>
      <p:sp>
        <p:nvSpPr>
          <p:cNvPr id="18" name="TextBox 17"/>
          <p:cNvSpPr txBox="1"/>
          <p:nvPr/>
        </p:nvSpPr>
        <p:spPr>
          <a:xfrm>
            <a:off x="5806440" y="3611880"/>
            <a:ext cx="5852160" cy="658368"/>
          </a:xfrm>
          <a:prstGeom prst="rect">
            <a:avLst/>
          </a:prstGeom>
          <a:noFill/>
        </p:spPr>
        <p:txBody>
          <a:bodyPr wrap="square" anchor="ctr">
            <a:spAutoFit/>
          </a:bodyPr>
          <a:lstStyle/>
          <a:p>
            <a:pPr algn="l">
              <a:spcBef>
                <a:spcPts val="0"/>
              </a:spcBef>
              <a:spcAft>
                <a:spcPts val="600"/>
              </a:spcAft>
            </a:pPr>
            <a:r>
              <a:rPr sz="1500" b="0" i="0">
                <a:solidFill>
                  <a:srgbClr val="222222"/>
                </a:solidFill>
                <a:latin typeface="Segoe UI"/>
              </a:rPr>
              <a:t>Stage 0 — &lt;session&gt;_slim_uv.npz</a:t>
            </a:r>
          </a:p>
        </p:txBody>
      </p:sp>
      <p:sp>
        <p:nvSpPr>
          <p:cNvPr id="19" name="TextBox 18"/>
          <p:cNvSpPr txBox="1"/>
          <p:nvPr/>
        </p:nvSpPr>
        <p:spPr>
          <a:xfrm>
            <a:off x="2834640" y="4233672"/>
            <a:ext cx="914400" cy="228600"/>
          </a:xfrm>
          <a:prstGeom prst="rect">
            <a:avLst/>
          </a:prstGeom>
          <a:noFill/>
        </p:spPr>
        <p:txBody>
          <a:bodyPr wrap="square" anchor="t">
            <a:spAutoFit/>
          </a:bodyPr>
          <a:lstStyle/>
          <a:p>
            <a:pPr algn="ctr">
              <a:spcBef>
                <a:spcPts val="0"/>
              </a:spcBef>
              <a:spcAft>
                <a:spcPts val="600"/>
              </a:spcAft>
            </a:pPr>
            <a:r>
              <a:rPr sz="1200" b="0" i="0">
                <a:solidFill>
                  <a:srgbClr val="E06A2B"/>
                </a:solidFill>
                <a:latin typeface="Segoe UI"/>
              </a:rPr>
              <a:t>▼</a:t>
            </a:r>
          </a:p>
        </p:txBody>
      </p:sp>
      <p:sp>
        <p:nvSpPr>
          <p:cNvPr id="20" name="Rectangle 19"/>
          <p:cNvSpPr/>
          <p:nvPr/>
        </p:nvSpPr>
        <p:spPr>
          <a:xfrm>
            <a:off x="731520" y="4434840"/>
            <a:ext cx="4846320" cy="658368"/>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434840"/>
            <a:ext cx="4663440" cy="658368"/>
          </a:xfrm>
          <a:prstGeom prst="rect">
            <a:avLst/>
          </a:prstGeom>
          <a:noFill/>
        </p:spPr>
        <p:txBody>
          <a:bodyPr wrap="square" anchor="ctr">
            <a:spAutoFit/>
          </a:bodyPr>
          <a:lstStyle/>
          <a:p>
            <a:pPr algn="l">
              <a:spcBef>
                <a:spcPts val="0"/>
              </a:spcBef>
              <a:spcAft>
                <a:spcPts val="600"/>
              </a:spcAft>
            </a:pPr>
            <a:r>
              <a:rPr sz="1500" b="1" i="0">
                <a:solidFill>
                  <a:srgbClr val="FFFFFF"/>
                </a:solidFill>
                <a:latin typeface="Consolas"/>
              </a:rPr>
              <a:t>spatial_extract_boundaries</a:t>
            </a:r>
          </a:p>
        </p:txBody>
      </p:sp>
      <p:sp>
        <p:nvSpPr>
          <p:cNvPr id="22" name="TextBox 21"/>
          <p:cNvSpPr txBox="1"/>
          <p:nvPr/>
        </p:nvSpPr>
        <p:spPr>
          <a:xfrm>
            <a:off x="5806440" y="4434840"/>
            <a:ext cx="5852160" cy="658368"/>
          </a:xfrm>
          <a:prstGeom prst="rect">
            <a:avLst/>
          </a:prstGeom>
          <a:noFill/>
        </p:spPr>
        <p:txBody>
          <a:bodyPr wrap="square" anchor="ctr">
            <a:spAutoFit/>
          </a:bodyPr>
          <a:lstStyle/>
          <a:p>
            <a:pPr algn="l">
              <a:spcBef>
                <a:spcPts val="0"/>
              </a:spcBef>
              <a:spcAft>
                <a:spcPts val="600"/>
              </a:spcAft>
            </a:pPr>
            <a:r>
              <a:rPr sz="1500" b="0" i="0">
                <a:solidFill>
                  <a:srgbClr val="222222"/>
                </a:solidFill>
                <a:latin typeface="Segoe UI"/>
              </a:rPr>
              <a:t>Stages 2 &amp; 3 — population_response_fields.npz + PNGs</a:t>
            </a:r>
          </a:p>
        </p:txBody>
      </p:sp>
      <p:sp>
        <p:nvSpPr>
          <p:cNvPr id="23" name="TextBox 22"/>
          <p:cNvSpPr txBox="1"/>
          <p:nvPr/>
        </p:nvSpPr>
        <p:spPr>
          <a:xfrm>
            <a:off x="2834640" y="5056632"/>
            <a:ext cx="914400" cy="228600"/>
          </a:xfrm>
          <a:prstGeom prst="rect">
            <a:avLst/>
          </a:prstGeom>
          <a:noFill/>
        </p:spPr>
        <p:txBody>
          <a:bodyPr wrap="square" anchor="t">
            <a:spAutoFit/>
          </a:bodyPr>
          <a:lstStyle/>
          <a:p>
            <a:pPr algn="ctr">
              <a:spcBef>
                <a:spcPts val="0"/>
              </a:spcBef>
              <a:spcAft>
                <a:spcPts val="600"/>
              </a:spcAft>
            </a:pPr>
            <a:r>
              <a:rPr sz="1200" b="0" i="0">
                <a:solidFill>
                  <a:srgbClr val="E06A2B"/>
                </a:solidFill>
                <a:latin typeface="Segoe UI"/>
              </a:rPr>
              <a:t>▼</a:t>
            </a:r>
          </a:p>
        </p:txBody>
      </p:sp>
      <p:sp>
        <p:nvSpPr>
          <p:cNvPr id="24" name="Rectangle 23"/>
          <p:cNvSpPr/>
          <p:nvPr/>
        </p:nvSpPr>
        <p:spPr>
          <a:xfrm>
            <a:off x="731520" y="5257800"/>
            <a:ext cx="4846320" cy="658368"/>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5257800"/>
            <a:ext cx="4663440" cy="658368"/>
          </a:xfrm>
          <a:prstGeom prst="rect">
            <a:avLst/>
          </a:prstGeom>
          <a:noFill/>
        </p:spPr>
        <p:txBody>
          <a:bodyPr wrap="square" anchor="ctr">
            <a:spAutoFit/>
          </a:bodyPr>
          <a:lstStyle/>
          <a:p>
            <a:pPr algn="l">
              <a:spcBef>
                <a:spcPts val="0"/>
              </a:spcBef>
              <a:spcAft>
                <a:spcPts val="600"/>
              </a:spcAft>
            </a:pPr>
            <a:r>
              <a:rPr sz="1500" b="1" i="0">
                <a:solidFill>
                  <a:srgbClr val="FFFFFF"/>
                </a:solidFill>
                <a:latin typeface="Consolas"/>
              </a:rPr>
              <a:t>spatial_extract_rf_profiles</a:t>
            </a:r>
          </a:p>
        </p:txBody>
      </p:sp>
      <p:sp>
        <p:nvSpPr>
          <p:cNvPr id="26" name="TextBox 25"/>
          <p:cNvSpPr txBox="1"/>
          <p:nvPr/>
        </p:nvSpPr>
        <p:spPr>
          <a:xfrm>
            <a:off x="5806440" y="5257800"/>
            <a:ext cx="5852160" cy="658368"/>
          </a:xfrm>
          <a:prstGeom prst="rect">
            <a:avLst/>
          </a:prstGeom>
          <a:noFill/>
        </p:spPr>
        <p:txBody>
          <a:bodyPr wrap="square" anchor="ctr">
            <a:spAutoFit/>
          </a:bodyPr>
          <a:lstStyle/>
          <a:p>
            <a:pPr algn="l">
              <a:spcBef>
                <a:spcPts val="0"/>
              </a:spcBef>
              <a:spcAft>
                <a:spcPts val="600"/>
              </a:spcAft>
            </a:pPr>
            <a:r>
              <a:rPr sz="1500" b="0" i="0">
                <a:solidFill>
                  <a:srgbClr val="222222"/>
                </a:solidFill>
                <a:latin typeface="Segoe UI"/>
              </a:rPr>
              <a:t>Stage 4 — 1-D profiles</a:t>
            </a:r>
          </a:p>
        </p:txBody>
      </p:sp>
      <p:sp>
        <p:nvSpPr>
          <p:cNvPr id="27" name="TextBox 26"/>
          <p:cNvSpPr txBox="1"/>
          <p:nvPr/>
        </p:nvSpPr>
        <p:spPr>
          <a:xfrm>
            <a:off x="731520" y="6172200"/>
            <a:ext cx="10972800" cy="457200"/>
          </a:xfrm>
          <a:prstGeom prst="rect">
            <a:avLst/>
          </a:prstGeom>
          <a:noFill/>
        </p:spPr>
        <p:txBody>
          <a:bodyPr wrap="square" anchor="t">
            <a:spAutoFit/>
          </a:bodyPr>
          <a:lstStyle/>
          <a:p>
            <a:pPr algn="l">
              <a:spcBef>
                <a:spcPts val="0"/>
              </a:spcBef>
              <a:spcAft>
                <a:spcPts val="600"/>
              </a:spcAft>
            </a:pPr>
            <a:r>
              <a:rPr sz="1300" b="0" i="1">
                <a:solidFill>
                  <a:srgbClr val="666666"/>
                </a:solidFill>
                <a:latin typeface="Segoe UI"/>
              </a:rPr>
              <a:t>Key options on spatial_extract_boundaries:  iff_metric=mean · min_overlap_pct=25 · boundary_method=radial · flip_u=true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